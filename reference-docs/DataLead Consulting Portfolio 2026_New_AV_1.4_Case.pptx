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8" r:id="rId4"/>
    <p:sldId id="261" r:id="rId5"/>
    <p:sldId id="289" r:id="rId6"/>
    <p:sldId id="295" r:id="rId7"/>
    <p:sldId id="290" r:id="rId8"/>
    <p:sldId id="265" r:id="rId9"/>
    <p:sldId id="292" r:id="rId10"/>
    <p:sldId id="266" r:id="rId11"/>
    <p:sldId id="293" r:id="rId12"/>
    <p:sldId id="268" r:id="rId13"/>
    <p:sldId id="294" r:id="rId14"/>
    <p:sldId id="269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322B"/>
    <a:srgbClr val="E97132"/>
    <a:srgbClr val="156082"/>
    <a:srgbClr val="196B24"/>
    <a:srgbClr val="0F9ED5"/>
    <a:srgbClr val="E8E8E8"/>
    <a:srgbClr val="16599D"/>
    <a:srgbClr val="001F5E"/>
    <a:srgbClr val="061D38"/>
    <a:srgbClr val="0C97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5803" autoAdjust="0"/>
  </p:normalViewPr>
  <p:slideViewPr>
    <p:cSldViewPr snapToGrid="0" showGuides="1">
      <p:cViewPr>
        <p:scale>
          <a:sx n="100" d="100"/>
          <a:sy n="100" d="100"/>
        </p:scale>
        <p:origin x="79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DA32D-623F-4A9A-B25A-06887B9D4659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0D61B-2FDD-44D0-A996-6E27E51028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013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7D79-8EC1-1AD7-6077-EFCE7E0A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11429EE-0413-8EB4-5849-2D8C31CD4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20C829-3D3E-407D-EEFB-80B7B7054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15D052-15A8-AA59-3A96-9A6049123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81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637C-544C-8F9F-63A9-BC7E1DD83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8CB8D42-A1A5-2D13-67BF-86482D6A5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17EE10C-6432-DAAC-F46C-1BAA9D636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5F52FB-48A2-9EE4-CCB3-D84DBB02A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749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F2E2-BF47-4C22-57EA-A9304C7FC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20FFB66-0F15-1BDA-3B98-AB9A215CA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B0BF6B-B538-855F-3F0F-C93C4CB9B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6732B9-82A6-847F-05D6-8214F9486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427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C3F62-1044-BE36-67D5-303F4AC1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9C64845-4ED6-3A43-0688-1467E758D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605A89-625B-4E87-9B9B-23CD7CF68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D29AE2-61AC-A6EC-A269-2ACDBBE30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963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EAE2D-841A-EA4C-F1DB-CF1F1E4FB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64EFC88-FC1B-B738-DEF4-F134BD03A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1DF8D9E-5475-B4C5-71A3-694D4B769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FD49AB-CA38-4025-2472-2EB20CC50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071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67BE-EACD-57A1-F6AD-F64655F9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1EE9D49-8F3D-A2C8-23A6-23F417511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38B9A7-9548-FA2D-B568-85BD53186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64981F-20BE-B9B6-01BD-937864E73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24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1F641-C35A-11F6-557A-8CD5C5DAA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07CC746-E544-9DD6-6D01-81F93D446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EAC2290-CF3D-CA1B-6D24-B72DD486C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960E68-92EE-4436-A38F-196CD0E6F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021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5CCB5-4D86-36BC-12CF-DCE2741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6202C2B-96A7-6CBD-3AAB-8DB26290B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B1CD37A-FF51-ED31-DA9F-C66EF099B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06EB77-3414-7C7B-6B7E-81C2C0FA6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9097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F5B26-993C-D94D-9646-B882BF1A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3CE1F9D-168A-72DE-4ADD-EF7E81283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8BC9009-A0D9-47EC-56B3-E885535A2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592D3D-50B1-35D9-2553-E319E1AA3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251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B2039-B180-2B31-40EB-F150D067F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470889-7290-56A8-95A5-87A0BD620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D16321-89FA-A1AC-BA2E-7ED5DF730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C9CD7E-AACD-1142-29A0-49CC6DEE8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054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F4A0-5C35-AE18-CDD3-A6FA3872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7D2926-8D51-18AA-BC7C-41CAFD8289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76B0E4B-9370-C754-BC11-382E84973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0F554E-0E6E-5B4F-F69A-F8E27A47C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315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00D7-CA00-6204-A459-951A18216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532A3C-F2EE-E105-C0A6-4A198CE99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0346B9D-EE89-A9FC-054E-092E27D1A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EEEECE-0558-F48C-FD0A-773DC7A2D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849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5C9A8-C7B9-536A-6FBE-71769FF20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4CB0B6-C9B6-BD03-31AF-C78A10DDB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B4514A2-6F36-5C88-FBCF-99B30182E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8E4F15-7AD2-66CD-667F-0E2A903E7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376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6503-8BFE-063B-BEF6-21DCB69DE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9508680-A06B-E27C-61BD-A35FEB408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33EE76E-E013-7B4E-B161-20B2F61EC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97D464-4A51-C072-A6B2-5FDD25626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464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2278-F811-B764-A9EF-AA5E3CC0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199B642-0B99-FAC9-9F79-424111B05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88FF637-4E11-8624-72C7-F4A3E9CE7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651D89-06AE-2D53-01EE-8542CBF85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31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744B-E716-15C2-42AF-0FA96915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F39FE9D-C572-5484-B737-7FBEAFBD4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E508D3-712B-2E06-5E78-0CCE47850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B6B58C-97A3-96FB-880E-DBBBC9934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F0D61B-2FDD-44D0-A996-6E27E510285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391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8E440-0CB4-E88A-DAAF-E404CC5AC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EFDBB4-524D-67A6-0A4A-2338C6464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6B3495-18AA-7D9F-279D-CE451E1B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931A48-62C7-C0E7-1A38-47B1D234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4BB6F5-2305-9478-F108-AE1A29318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44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E4B0A2-2542-6156-06B7-992C34D8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E6EAD2-7D3E-9162-6169-FA4683B45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FCFAE7-17F2-5F6A-690A-062F3D9E6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AA141C-BF10-2225-8C3E-527DD3CE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A06A95-1A33-AC2C-04D8-FEF30B7D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26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C7320-65B7-3134-D7E9-D52F72F8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D5ABCD-CC82-9826-1695-68EE1E608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939540-11F7-997C-701D-98834DA2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5A8B73-B627-9117-7DA5-08324272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09B3CC-A046-D5E1-9E36-6946F2F80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256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02B77-F2E9-F7F8-541E-15D4669A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793276-561B-44FE-F9A0-3918EBF2AB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BFFA9D-8B55-BF18-4105-5097ABA89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8BCAE9-DC19-64F1-BF47-300F72344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5DE31A-46E5-03AC-5DF2-2F339D4D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C34143-E7BA-F31B-4767-0E018DF0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88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8E057B-6FC3-2755-A470-3DC1CB773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759D08-352A-0795-AB7A-6D2761C8D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17E487-0A26-2592-0C88-38F5F93C2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BE19403-1F9E-2D7F-4422-985493E7CA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5DB2426-54E4-B543-9AEC-2EFC4DCF11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4D8A5F-4289-8CF8-2734-9F94C21B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DB4610C-6F61-A3DC-0C23-BDA56A07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20B1958-8CEF-3C4A-2538-80A8F42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760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A7AFED-18CA-CE48-8D59-A6340472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7F36E17-E1BB-CD84-DE00-D3AA81CF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AAB5D8-4175-96E5-B842-E13838FA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4C5C02-2CAC-2C5B-FE9E-5ABDD349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5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E60B719-1A63-BBBA-D7E0-B40D2010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E1AB8C6-642C-655A-8209-9AB71D3F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137876-EDED-0A53-9164-39F03B1F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91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FEEDD-2351-A67C-0910-4A088195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ADFF86-4F2D-2E97-0E5A-10E984A65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53FEE4-C792-B689-8393-FCBA89CBA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032805-83E0-2240-9B19-2AF7D4353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EBCCC6-7E4C-D732-BCAF-016300D6A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7CA539-26A8-DA9F-8082-D6422373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7354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016812-F982-877F-B97F-401FA6FD8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9E39370-4CCF-AC02-E695-77406EED9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71F25A-3A47-4426-1158-A4D33EC5A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BB3B1E-DB2C-86DC-EBEA-77E7A3A1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A11F2C-55BE-45E7-7777-7253F5715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F1B988-D210-EC78-E496-F67F217E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2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789F5C-7A45-1B3B-1E42-F19BD7C4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443F03-8D24-003A-5279-2A3523320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CDFAF8-2864-A72D-E43B-A53372CAC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FA7ABE-C0C3-C70B-44DC-9A694F98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C32A75-C9B2-AB2E-B162-C972CB542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732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8DB960-2767-C8EC-DA19-242F569F68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233892-D229-34B5-BCAC-C86361793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EBDEE3-D3FB-012E-CE5D-ED61D8DF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2DB719-7AEC-3B35-56A6-D7C44CAF5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6D5B82-EB47-EF80-5909-2C3DC979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81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6D4E7-1CB9-ECA5-CB57-37F1FF8C7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34C9F7-DFEB-5D47-1220-4F7EC11C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7AEFC9-88C9-604D-8886-AAAB639E7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EE105-59C1-487B-A2A3-9C1EA48D7E0C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19446-9B2A-F3C0-3937-1823C0E73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11E683-44BD-2160-D96B-9DCC64EE8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0D71F-88F2-41DA-A188-117CA5F21E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607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2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50">
            <a:extLst>
              <a:ext uri="{FF2B5EF4-FFF2-40B4-BE49-F238E27FC236}">
                <a16:creationId xmlns:a16="http://schemas.microsoft.com/office/drawing/2014/main" id="{1B555E11-3034-3E2E-16C2-59496F6E5125}"/>
              </a:ext>
            </a:extLst>
          </p:cNvPr>
          <p:cNvSpPr txBox="1"/>
          <p:nvPr/>
        </p:nvSpPr>
        <p:spPr>
          <a:xfrm>
            <a:off x="3413509" y="2249093"/>
            <a:ext cx="5345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n-US" sz="4000" b="1" dirty="0" err="1">
                <a:solidFill>
                  <a:srgbClr val="156082"/>
                </a:solidFill>
                <a:latin typeface="Helios Bold"/>
                <a:ea typeface="Helios Bold"/>
                <a:cs typeface="Helios Bold"/>
                <a:sym typeface="Helios Bold"/>
              </a:rPr>
              <a:t>DataLead</a:t>
            </a:r>
            <a:r>
              <a:rPr lang="en-US" sz="4000" b="1" dirty="0">
                <a:solidFill>
                  <a:srgbClr val="156082"/>
                </a:solidFill>
                <a:latin typeface="Helios Bold"/>
                <a:ea typeface="Helios Bold"/>
                <a:cs typeface="Helios Bold"/>
                <a:sym typeface="Helios Bold"/>
              </a:rPr>
              <a:t> Consulting</a:t>
            </a:r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E0578FE1-AC87-247D-F846-D1804C715C9F}"/>
              </a:ext>
            </a:extLst>
          </p:cNvPr>
          <p:cNvSpPr/>
          <p:nvPr/>
        </p:nvSpPr>
        <p:spPr>
          <a:xfrm>
            <a:off x="481301" y="5304251"/>
            <a:ext cx="2259493" cy="982703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F8AE03DA-2285-7409-4801-D6501559BAA4}"/>
              </a:ext>
            </a:extLst>
          </p:cNvPr>
          <p:cNvSpPr txBox="1"/>
          <p:nvPr/>
        </p:nvSpPr>
        <p:spPr>
          <a:xfrm>
            <a:off x="1403031" y="2904058"/>
            <a:ext cx="9385938" cy="59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2400" b="1" spc="68" dirty="0">
                <a:solidFill>
                  <a:srgbClr val="E97132"/>
                </a:solidFill>
                <a:latin typeface="Helios Bold"/>
                <a:ea typeface="Helios Bold"/>
                <a:cs typeface="Helios Bold"/>
                <a:sym typeface="Helios Bold"/>
              </a:rPr>
              <a:t>Enterprise data resilience for mission-critical organizations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C8CD18-3427-2F00-7F0A-8DD8B729D8EC}"/>
              </a:ext>
            </a:extLst>
          </p:cNvPr>
          <p:cNvSpPr txBox="1"/>
          <p:nvPr/>
        </p:nvSpPr>
        <p:spPr>
          <a:xfrm>
            <a:off x="2933699" y="368077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spc="68" dirty="0">
                <a:solidFill>
                  <a:srgbClr val="7E7E7E"/>
                </a:solidFill>
                <a:latin typeface="Helios Bold"/>
              </a:rPr>
              <a:t>Protecting revenue, ensuring continuity, and enabling AI-ready growth</a:t>
            </a:r>
            <a:endParaRPr lang="ru-RU" sz="2000" spc="68" dirty="0">
              <a:solidFill>
                <a:srgbClr val="7E7E7E"/>
              </a:solidFill>
              <a:latin typeface="Helios Bold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D1CA516-8836-BCE3-730B-C595227DD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A6BFC1E-F380-D108-8179-64CDAC68584C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32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107B-959E-F416-0396-8DA49FC0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2ECF70-5047-A784-CFC0-925E48930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3DAA0C-0B0E-08DC-5A0C-47B9B219CD79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326CECE9-8AA2-BB27-1306-807BFCD8B5BF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BC1E20-D512-6BB9-C04F-65E7C9BDE5CB}"/>
              </a:ext>
            </a:extLst>
          </p:cNvPr>
          <p:cNvSpPr txBox="1"/>
          <p:nvPr/>
        </p:nvSpPr>
        <p:spPr>
          <a:xfrm>
            <a:off x="1833852" y="1516227"/>
            <a:ext cx="9139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Data infrastructure failure directly impacts revenue and strategic growth</a:t>
            </a:r>
            <a:endParaRPr lang="ru-RU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8D2BDCE0-4378-6CAF-9F96-E0B071F61522}"/>
              </a:ext>
            </a:extLst>
          </p:cNvPr>
          <p:cNvSpPr txBox="1"/>
          <p:nvPr/>
        </p:nvSpPr>
        <p:spPr>
          <a:xfrm>
            <a:off x="624176" y="625615"/>
            <a:ext cx="96247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The new enterprise risk reality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074DF-24BC-E0C9-AF1D-69D0BA5ABA72}"/>
              </a:ext>
            </a:extLst>
          </p:cNvPr>
          <p:cNvSpPr txBox="1"/>
          <p:nvPr/>
        </p:nvSpPr>
        <p:spPr>
          <a:xfrm>
            <a:off x="1833853" y="1902727"/>
            <a:ext cx="3376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156082"/>
                </a:solidFill>
                <a:latin typeface="Helios" panose="020B0604020202020204" charset="0"/>
              </a:rPr>
              <a:t>Industry estimates show</a:t>
            </a:r>
            <a:r>
              <a:rPr lang="en-US" spc="68" dirty="0">
                <a:solidFill>
                  <a:srgbClr val="16599D"/>
                </a:solidFill>
                <a:latin typeface="Helios" panose="020B0604020202020204" charset="0"/>
              </a:rPr>
              <a:t>:</a:t>
            </a:r>
            <a:endParaRPr lang="ru-RU" spc="68" dirty="0">
              <a:solidFill>
                <a:srgbClr val="16599D"/>
              </a:solidFill>
              <a:latin typeface="Helios" panose="020B0604020202020204" charset="0"/>
            </a:endParaRPr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1D467347-A69E-0C64-7F28-DA43DCC1F50E}"/>
              </a:ext>
            </a:extLst>
          </p:cNvPr>
          <p:cNvSpPr/>
          <p:nvPr/>
        </p:nvSpPr>
        <p:spPr>
          <a:xfrm>
            <a:off x="2014827" y="2520688"/>
            <a:ext cx="40347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n-US" sz="2800" dirty="0">
                <a:solidFill>
                  <a:srgbClr val="E97132"/>
                </a:solidFill>
                <a:latin typeface="Helios" panose="020B0604020202020204" charset="0"/>
                <a:ea typeface="Roboto Medium" panose="02000000000000000000" pitchFamily="2" charset="0"/>
                <a:cs typeface="Montserrat" charset="0"/>
              </a:rPr>
              <a:t> 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Helios" panose="020B0604020202020204" charset="0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54BED7-B024-A5DD-C31D-E595291B3C3A}"/>
              </a:ext>
            </a:extLst>
          </p:cNvPr>
          <p:cNvSpPr txBox="1"/>
          <p:nvPr/>
        </p:nvSpPr>
        <p:spPr>
          <a:xfrm>
            <a:off x="2805112" y="3260771"/>
            <a:ext cx="2614613" cy="53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ts val="1830"/>
              </a:lnSpc>
              <a:defRPr/>
            </a:pPr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Average enterprise downtime cost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DB4B5A-6A9D-0531-A45D-476A4BD910B1}"/>
              </a:ext>
            </a:extLst>
          </p:cNvPr>
          <p:cNvSpPr txBox="1"/>
          <p:nvPr/>
        </p:nvSpPr>
        <p:spPr>
          <a:xfrm>
            <a:off x="3978780" y="5770116"/>
            <a:ext cx="4835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Operational instability is financial risk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664BF145-435E-F67C-00B0-3176C5A9E18A}"/>
              </a:ext>
            </a:extLst>
          </p:cNvPr>
          <p:cNvGrpSpPr/>
          <p:nvPr/>
        </p:nvGrpSpPr>
        <p:grpSpPr>
          <a:xfrm>
            <a:off x="2805112" y="2679932"/>
            <a:ext cx="2405063" cy="485490"/>
            <a:chOff x="845162" y="1766375"/>
            <a:chExt cx="2405063" cy="485490"/>
          </a:xfrm>
        </p:grpSpPr>
        <p:sp>
          <p:nvSpPr>
            <p:cNvPr id="30" name="Rectangle 72">
              <a:extLst>
                <a:ext uri="{FF2B5EF4-FFF2-40B4-BE49-F238E27FC236}">
                  <a16:creationId xmlns:a16="http://schemas.microsoft.com/office/drawing/2014/main" id="{6D3FBEA4-ABF4-7B84-A8B4-B9182727E18A}"/>
                </a:ext>
              </a:extLst>
            </p:cNvPr>
            <p:cNvSpPr/>
            <p:nvPr/>
          </p:nvSpPr>
          <p:spPr>
            <a:xfrm>
              <a:off x="850015" y="1766375"/>
              <a:ext cx="2400210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CuadroTexto 395">
              <a:extLst>
                <a:ext uri="{FF2B5EF4-FFF2-40B4-BE49-F238E27FC236}">
                  <a16:creationId xmlns:a16="http://schemas.microsoft.com/office/drawing/2014/main" id="{335E2185-23A4-B93F-B6BD-F5C8153F45AB}"/>
                </a:ext>
              </a:extLst>
            </p:cNvPr>
            <p:cNvSpPr txBox="1"/>
            <p:nvPr/>
          </p:nvSpPr>
          <p:spPr>
            <a:xfrm>
              <a:off x="845162" y="1839843"/>
              <a:ext cx="23002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$300K–$1M per hour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79337B8-3845-F01A-C6D8-FF440C39B873}"/>
              </a:ext>
            </a:extLst>
          </p:cNvPr>
          <p:cNvSpPr txBox="1"/>
          <p:nvPr/>
        </p:nvSpPr>
        <p:spPr>
          <a:xfrm>
            <a:off x="6290361" y="3221515"/>
            <a:ext cx="2614612" cy="53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ts val="1830"/>
              </a:lnSpc>
              <a:defRPr/>
            </a:pPr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AI initiatives fail before reaching production scale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Helios" panose="020B0604020202020204" charset="0"/>
              <a:ea typeface="Lato Light" panose="020F0502020204030203" pitchFamily="34" charset="0"/>
              <a:cs typeface="Poppins Light" pitchFamily="2" charset="77"/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8C35C9DB-8DB7-8D98-21F9-FF65E94FE034}"/>
              </a:ext>
            </a:extLst>
          </p:cNvPr>
          <p:cNvGrpSpPr/>
          <p:nvPr/>
        </p:nvGrpSpPr>
        <p:grpSpPr>
          <a:xfrm>
            <a:off x="6234112" y="2640676"/>
            <a:ext cx="2405063" cy="485490"/>
            <a:chOff x="845162" y="1766375"/>
            <a:chExt cx="2405063" cy="485490"/>
          </a:xfrm>
        </p:grpSpPr>
        <p:sp>
          <p:nvSpPr>
            <p:cNvPr id="34" name="Rectangle 72">
              <a:extLst>
                <a:ext uri="{FF2B5EF4-FFF2-40B4-BE49-F238E27FC236}">
                  <a16:creationId xmlns:a16="http://schemas.microsoft.com/office/drawing/2014/main" id="{2EC90EB0-BC7A-EC38-B852-A4836D809C67}"/>
                </a:ext>
              </a:extLst>
            </p:cNvPr>
            <p:cNvSpPr/>
            <p:nvPr/>
          </p:nvSpPr>
          <p:spPr>
            <a:xfrm>
              <a:off x="850015" y="1766375"/>
              <a:ext cx="2400210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CuadroTexto 395">
              <a:extLst>
                <a:ext uri="{FF2B5EF4-FFF2-40B4-BE49-F238E27FC236}">
                  <a16:creationId xmlns:a16="http://schemas.microsoft.com/office/drawing/2014/main" id="{60D67F4E-E9E4-0DBF-D606-A744608DE1F4}"/>
                </a:ext>
              </a:extLst>
            </p:cNvPr>
            <p:cNvSpPr txBox="1"/>
            <p:nvPr/>
          </p:nvSpPr>
          <p:spPr>
            <a:xfrm>
              <a:off x="845162" y="1839843"/>
              <a:ext cx="23002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Up to 60%</a:t>
              </a:r>
            </a:p>
          </p:txBody>
        </p:sp>
      </p:grpSp>
      <p:sp>
        <p:nvSpPr>
          <p:cNvPr id="36" name="Rectangle 16">
            <a:extLst>
              <a:ext uri="{FF2B5EF4-FFF2-40B4-BE49-F238E27FC236}">
                <a16:creationId xmlns:a16="http://schemas.microsoft.com/office/drawing/2014/main" id="{A497C4CB-5A56-223B-C021-B00314589C61}"/>
              </a:ext>
            </a:extLst>
          </p:cNvPr>
          <p:cNvSpPr/>
          <p:nvPr/>
        </p:nvSpPr>
        <p:spPr>
          <a:xfrm>
            <a:off x="2014827" y="4128199"/>
            <a:ext cx="40347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n-US" sz="2800" dirty="0">
                <a:solidFill>
                  <a:srgbClr val="E97132"/>
                </a:solidFill>
                <a:latin typeface="Helios" panose="020B0604020202020204" charset="0"/>
                <a:ea typeface="Roboto Medium" panose="02000000000000000000" pitchFamily="2" charset="0"/>
                <a:cs typeface="Montserrat" charset="0"/>
              </a:rPr>
              <a:t> 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rgbClr val="E97132"/>
              </a:solidFill>
              <a:effectLst/>
              <a:uLnTx/>
              <a:uFillTx/>
              <a:latin typeface="Helios" panose="020B0604020202020204" charset="0"/>
              <a:ea typeface="Roboto Medium" panose="02000000000000000000" pitchFamily="2" charset="0"/>
              <a:cs typeface="Montserrat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89940D-1A90-971A-62C6-08CE26C7932D}"/>
              </a:ext>
            </a:extLst>
          </p:cNvPr>
          <p:cNvSpPr txBox="1"/>
          <p:nvPr/>
        </p:nvSpPr>
        <p:spPr>
          <a:xfrm>
            <a:off x="2805112" y="4868282"/>
            <a:ext cx="2614613" cy="53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ts val="1830"/>
              </a:lnSpc>
              <a:defRPr/>
            </a:pPr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From inefficient architecture and poor governance</a:t>
            </a:r>
          </a:p>
        </p:txBody>
      </p: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12991E7-383F-1035-4308-C2172E29E49B}"/>
              </a:ext>
            </a:extLst>
          </p:cNvPr>
          <p:cNvGrpSpPr/>
          <p:nvPr/>
        </p:nvGrpSpPr>
        <p:grpSpPr>
          <a:xfrm>
            <a:off x="2736690" y="4287443"/>
            <a:ext cx="2490501" cy="485490"/>
            <a:chOff x="776740" y="1766375"/>
            <a:chExt cx="2490501" cy="485490"/>
          </a:xfrm>
        </p:grpSpPr>
        <p:sp>
          <p:nvSpPr>
            <p:cNvPr id="39" name="Rectangle 72">
              <a:extLst>
                <a:ext uri="{FF2B5EF4-FFF2-40B4-BE49-F238E27FC236}">
                  <a16:creationId xmlns:a16="http://schemas.microsoft.com/office/drawing/2014/main" id="{D03A2246-67C0-9ADE-E817-344BAC0BB1AF}"/>
                </a:ext>
              </a:extLst>
            </p:cNvPr>
            <p:cNvSpPr/>
            <p:nvPr/>
          </p:nvSpPr>
          <p:spPr>
            <a:xfrm>
              <a:off x="850015" y="1766375"/>
              <a:ext cx="2400210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CuadroTexto 395">
              <a:extLst>
                <a:ext uri="{FF2B5EF4-FFF2-40B4-BE49-F238E27FC236}">
                  <a16:creationId xmlns:a16="http://schemas.microsoft.com/office/drawing/2014/main" id="{5F0CDA17-4A3F-1F3D-DE5F-2BDFFADB04AF}"/>
                </a:ext>
              </a:extLst>
            </p:cNvPr>
            <p:cNvSpPr txBox="1"/>
            <p:nvPr/>
          </p:nvSpPr>
          <p:spPr>
            <a:xfrm>
              <a:off x="776740" y="1837858"/>
              <a:ext cx="24905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20–30% cloud overspend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C964C1E5-3BF6-5813-FB27-A77BFF1C0D2B}"/>
              </a:ext>
            </a:extLst>
          </p:cNvPr>
          <p:cNvSpPr txBox="1"/>
          <p:nvPr/>
        </p:nvSpPr>
        <p:spPr>
          <a:xfrm>
            <a:off x="6290361" y="4829026"/>
            <a:ext cx="2614612" cy="53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ts val="1830"/>
              </a:lnSpc>
              <a:defRPr/>
            </a:pPr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From non-compliance and data breaches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Helios" panose="020B0604020202020204" charset="0"/>
              <a:ea typeface="Lato Light" panose="020F0502020204030203" pitchFamily="34" charset="0"/>
              <a:cs typeface="Poppins Light" pitchFamily="2" charset="77"/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5F4F5527-6D92-499B-D6F2-33CA8C9C785A}"/>
              </a:ext>
            </a:extLst>
          </p:cNvPr>
          <p:cNvGrpSpPr/>
          <p:nvPr/>
        </p:nvGrpSpPr>
        <p:grpSpPr>
          <a:xfrm>
            <a:off x="6221949" y="4248187"/>
            <a:ext cx="2417226" cy="485490"/>
            <a:chOff x="832999" y="1766375"/>
            <a:chExt cx="2417226" cy="485490"/>
          </a:xfrm>
        </p:grpSpPr>
        <p:sp>
          <p:nvSpPr>
            <p:cNvPr id="43" name="Rectangle 72">
              <a:extLst>
                <a:ext uri="{FF2B5EF4-FFF2-40B4-BE49-F238E27FC236}">
                  <a16:creationId xmlns:a16="http://schemas.microsoft.com/office/drawing/2014/main" id="{0378DDBF-919B-DB07-7EFD-A34931E0229E}"/>
                </a:ext>
              </a:extLst>
            </p:cNvPr>
            <p:cNvSpPr/>
            <p:nvPr/>
          </p:nvSpPr>
          <p:spPr>
            <a:xfrm>
              <a:off x="850015" y="1766375"/>
              <a:ext cx="2400210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CuadroTexto 395">
              <a:extLst>
                <a:ext uri="{FF2B5EF4-FFF2-40B4-BE49-F238E27FC236}">
                  <a16:creationId xmlns:a16="http://schemas.microsoft.com/office/drawing/2014/main" id="{336193BA-B67B-4F95-DCF2-5405014B201B}"/>
                </a:ext>
              </a:extLst>
            </p:cNvPr>
            <p:cNvSpPr txBox="1"/>
            <p:nvPr/>
          </p:nvSpPr>
          <p:spPr>
            <a:xfrm>
              <a:off x="832999" y="1837858"/>
              <a:ext cx="24002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Multi-million-dollar fines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97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20CB-C7E4-9EAD-7FC3-1BCFB4135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425FEA8-2429-7D74-DA82-E2B5EB309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230D059-5B17-EB75-AB02-42EDEDD0289A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CFCC0DDE-485D-48FA-FFBA-9DCFE155655F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6C3CE3D1-FC54-AB20-3C11-4856522331DB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What resilient organizations prioritize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grpSp>
        <p:nvGrpSpPr>
          <p:cNvPr id="41" name="Grupo 12">
            <a:extLst>
              <a:ext uri="{FF2B5EF4-FFF2-40B4-BE49-F238E27FC236}">
                <a16:creationId xmlns:a16="http://schemas.microsoft.com/office/drawing/2014/main" id="{5C556B45-0577-3F3F-77A0-768EE10B0BAF}"/>
              </a:ext>
            </a:extLst>
          </p:cNvPr>
          <p:cNvGrpSpPr/>
          <p:nvPr/>
        </p:nvGrpSpPr>
        <p:grpSpPr>
          <a:xfrm>
            <a:off x="5710410" y="4972442"/>
            <a:ext cx="741103" cy="729889"/>
            <a:chOff x="12974550" y="8114032"/>
            <a:chExt cx="1055530" cy="1039559"/>
          </a:xfrm>
          <a:solidFill>
            <a:schemeClr val="bg1"/>
          </a:solidFill>
        </p:grpSpPr>
        <p:sp>
          <p:nvSpPr>
            <p:cNvPr id="42" name="Freeform 101">
              <a:extLst>
                <a:ext uri="{FF2B5EF4-FFF2-40B4-BE49-F238E27FC236}">
                  <a16:creationId xmlns:a16="http://schemas.microsoft.com/office/drawing/2014/main" id="{AE357BAD-F3D3-201D-DD38-8E08C1275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4579" y="8579099"/>
              <a:ext cx="492883" cy="269011"/>
            </a:xfrm>
            <a:custGeom>
              <a:avLst/>
              <a:gdLst>
                <a:gd name="T0" fmla="*/ 40 w 45"/>
                <a:gd name="T1" fmla="*/ 25 h 25"/>
                <a:gd name="T2" fmla="*/ 40 w 45"/>
                <a:gd name="T3" fmla="*/ 25 h 25"/>
                <a:gd name="T4" fmla="*/ 45 w 45"/>
                <a:gd name="T5" fmla="*/ 11 h 25"/>
                <a:gd name="T6" fmla="*/ 40 w 45"/>
                <a:gd name="T7" fmla="*/ 11 h 25"/>
                <a:gd name="T8" fmla="*/ 0 w 45"/>
                <a:gd name="T9" fmla="*/ 0 h 25"/>
                <a:gd name="T10" fmla="*/ 0 w 45"/>
                <a:gd name="T11" fmla="*/ 11 h 25"/>
                <a:gd name="T12" fmla="*/ 40 w 45"/>
                <a:gd name="T1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" h="25"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0"/>
                    <a:pt x="42" y="15"/>
                    <a:pt x="45" y="11"/>
                  </a:cubicBezTo>
                  <a:cubicBezTo>
                    <a:pt x="43" y="11"/>
                    <a:pt x="42" y="11"/>
                    <a:pt x="40" y="11"/>
                  </a:cubicBezTo>
                  <a:cubicBezTo>
                    <a:pt x="24" y="11"/>
                    <a:pt x="7" y="7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7"/>
                    <a:pt x="18" y="25"/>
                    <a:pt x="4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02">
              <a:extLst>
                <a:ext uri="{FF2B5EF4-FFF2-40B4-BE49-F238E27FC236}">
                  <a16:creationId xmlns:a16="http://schemas.microsoft.com/office/drawing/2014/main" id="{339EE32E-D030-619C-EA1D-D09785CC4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4579" y="8383040"/>
              <a:ext cx="878824" cy="273569"/>
            </a:xfrm>
            <a:custGeom>
              <a:avLst/>
              <a:gdLst>
                <a:gd name="T0" fmla="*/ 40 w 80"/>
                <a:gd name="T1" fmla="*/ 25 h 25"/>
                <a:gd name="T2" fmla="*/ 48 w 80"/>
                <a:gd name="T3" fmla="*/ 25 h 25"/>
                <a:gd name="T4" fmla="*/ 70 w 80"/>
                <a:gd name="T5" fmla="*/ 15 h 25"/>
                <a:gd name="T6" fmla="*/ 78 w 80"/>
                <a:gd name="T7" fmla="*/ 16 h 25"/>
                <a:gd name="T8" fmla="*/ 80 w 80"/>
                <a:gd name="T9" fmla="*/ 15 h 25"/>
                <a:gd name="T10" fmla="*/ 80 w 80"/>
                <a:gd name="T11" fmla="*/ 2 h 25"/>
                <a:gd name="T12" fmla="*/ 40 w 80"/>
                <a:gd name="T13" fmla="*/ 11 h 25"/>
                <a:gd name="T14" fmla="*/ 0 w 80"/>
                <a:gd name="T15" fmla="*/ 0 h 25"/>
                <a:gd name="T16" fmla="*/ 0 w 80"/>
                <a:gd name="T17" fmla="*/ 11 h 25"/>
                <a:gd name="T18" fmla="*/ 40 w 80"/>
                <a:gd name="T19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25">
                  <a:moveTo>
                    <a:pt x="40" y="25"/>
                  </a:moveTo>
                  <a:cubicBezTo>
                    <a:pt x="43" y="25"/>
                    <a:pt x="45" y="25"/>
                    <a:pt x="48" y="25"/>
                  </a:cubicBezTo>
                  <a:cubicBezTo>
                    <a:pt x="53" y="19"/>
                    <a:pt x="61" y="15"/>
                    <a:pt x="70" y="15"/>
                  </a:cubicBezTo>
                  <a:cubicBezTo>
                    <a:pt x="73" y="15"/>
                    <a:pt x="76" y="15"/>
                    <a:pt x="78" y="16"/>
                  </a:cubicBezTo>
                  <a:cubicBezTo>
                    <a:pt x="79" y="16"/>
                    <a:pt x="79" y="15"/>
                    <a:pt x="80" y="15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71" y="7"/>
                    <a:pt x="55" y="11"/>
                    <a:pt x="40" y="11"/>
                  </a:cubicBezTo>
                  <a:cubicBezTo>
                    <a:pt x="24" y="11"/>
                    <a:pt x="7" y="7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7"/>
                    <a:pt x="18" y="25"/>
                    <a:pt x="4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03">
              <a:extLst>
                <a:ext uri="{FF2B5EF4-FFF2-40B4-BE49-F238E27FC236}">
                  <a16:creationId xmlns:a16="http://schemas.microsoft.com/office/drawing/2014/main" id="{EEA4B82A-2F68-EF92-9CA5-93EAD1632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4550" y="8114032"/>
              <a:ext cx="878824" cy="346521"/>
            </a:xfrm>
            <a:custGeom>
              <a:avLst/>
              <a:gdLst>
                <a:gd name="T0" fmla="*/ 40 w 80"/>
                <a:gd name="T1" fmla="*/ 32 h 32"/>
                <a:gd name="T2" fmla="*/ 80 w 80"/>
                <a:gd name="T3" fmla="*/ 22 h 32"/>
                <a:gd name="T4" fmla="*/ 80 w 80"/>
                <a:gd name="T5" fmla="*/ 18 h 32"/>
                <a:gd name="T6" fmla="*/ 40 w 80"/>
                <a:gd name="T7" fmla="*/ 0 h 32"/>
                <a:gd name="T8" fmla="*/ 0 w 80"/>
                <a:gd name="T9" fmla="*/ 18 h 32"/>
                <a:gd name="T10" fmla="*/ 40 w 80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32">
                  <a:moveTo>
                    <a:pt x="40" y="32"/>
                  </a:moveTo>
                  <a:cubicBezTo>
                    <a:pt x="58" y="32"/>
                    <a:pt x="74" y="27"/>
                    <a:pt x="80" y="22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8"/>
                    <a:pt x="62" y="0"/>
                    <a:pt x="40" y="0"/>
                  </a:cubicBezTo>
                  <a:cubicBezTo>
                    <a:pt x="18" y="0"/>
                    <a:pt x="0" y="8"/>
                    <a:pt x="0" y="18"/>
                  </a:cubicBezTo>
                  <a:cubicBezTo>
                    <a:pt x="0" y="24"/>
                    <a:pt x="18" y="32"/>
                    <a:pt x="40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104">
              <a:extLst>
                <a:ext uri="{FF2B5EF4-FFF2-40B4-BE49-F238E27FC236}">
                  <a16:creationId xmlns:a16="http://schemas.microsoft.com/office/drawing/2014/main" id="{32193017-CEF7-353D-F335-7262818DF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4579" y="8775155"/>
              <a:ext cx="506834" cy="291807"/>
            </a:xfrm>
            <a:custGeom>
              <a:avLst/>
              <a:gdLst>
                <a:gd name="T0" fmla="*/ 40 w 46"/>
                <a:gd name="T1" fmla="*/ 11 h 27"/>
                <a:gd name="T2" fmla="*/ 0 w 46"/>
                <a:gd name="T3" fmla="*/ 0 h 27"/>
                <a:gd name="T4" fmla="*/ 0 w 46"/>
                <a:gd name="T5" fmla="*/ 9 h 27"/>
                <a:gd name="T6" fmla="*/ 40 w 46"/>
                <a:gd name="T7" fmla="*/ 27 h 27"/>
                <a:gd name="T8" fmla="*/ 46 w 46"/>
                <a:gd name="T9" fmla="*/ 27 h 27"/>
                <a:gd name="T10" fmla="*/ 40 w 46"/>
                <a:gd name="T11" fmla="*/ 11 h 27"/>
                <a:gd name="T12" fmla="*/ 40 w 46"/>
                <a:gd name="T13" fmla="*/ 1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27">
                  <a:moveTo>
                    <a:pt x="40" y="11"/>
                  </a:moveTo>
                  <a:cubicBezTo>
                    <a:pt x="24" y="11"/>
                    <a:pt x="7" y="7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9"/>
                    <a:pt x="18" y="27"/>
                    <a:pt x="40" y="27"/>
                  </a:cubicBezTo>
                  <a:cubicBezTo>
                    <a:pt x="42" y="27"/>
                    <a:pt x="44" y="27"/>
                    <a:pt x="46" y="27"/>
                  </a:cubicBezTo>
                  <a:cubicBezTo>
                    <a:pt x="43" y="22"/>
                    <a:pt x="40" y="17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105">
              <a:extLst>
                <a:ext uri="{FF2B5EF4-FFF2-40B4-BE49-F238E27FC236}">
                  <a16:creationId xmlns:a16="http://schemas.microsoft.com/office/drawing/2014/main" id="{834FC1CF-E141-3E38-BD2F-D34E5ADD1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58148" y="8588215"/>
              <a:ext cx="571932" cy="565376"/>
            </a:xfrm>
            <a:custGeom>
              <a:avLst/>
              <a:gdLst>
                <a:gd name="T0" fmla="*/ 26 w 52"/>
                <a:gd name="T1" fmla="*/ 0 h 52"/>
                <a:gd name="T2" fmla="*/ 0 w 52"/>
                <a:gd name="T3" fmla="*/ 26 h 52"/>
                <a:gd name="T4" fmla="*/ 26 w 52"/>
                <a:gd name="T5" fmla="*/ 52 h 52"/>
                <a:gd name="T6" fmla="*/ 52 w 52"/>
                <a:gd name="T7" fmla="*/ 26 h 52"/>
                <a:gd name="T8" fmla="*/ 26 w 52"/>
                <a:gd name="T9" fmla="*/ 0 h 52"/>
                <a:gd name="T10" fmla="*/ 32 w 52"/>
                <a:gd name="T11" fmla="*/ 30 h 52"/>
                <a:gd name="T12" fmla="*/ 22 w 52"/>
                <a:gd name="T13" fmla="*/ 30 h 52"/>
                <a:gd name="T14" fmla="*/ 22 w 52"/>
                <a:gd name="T15" fmla="*/ 13 h 52"/>
                <a:gd name="T16" fmla="*/ 24 w 52"/>
                <a:gd name="T17" fmla="*/ 11 h 52"/>
                <a:gd name="T18" fmla="*/ 26 w 52"/>
                <a:gd name="T19" fmla="*/ 13 h 52"/>
                <a:gd name="T20" fmla="*/ 26 w 52"/>
                <a:gd name="T21" fmla="*/ 26 h 52"/>
                <a:gd name="T22" fmla="*/ 32 w 52"/>
                <a:gd name="T23" fmla="*/ 26 h 52"/>
                <a:gd name="T24" fmla="*/ 35 w 52"/>
                <a:gd name="T25" fmla="*/ 28 h 52"/>
                <a:gd name="T26" fmla="*/ 32 w 52"/>
                <a:gd name="T27" fmla="*/ 3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52">
                  <a:moveTo>
                    <a:pt x="26" y="0"/>
                  </a:moveTo>
                  <a:cubicBezTo>
                    <a:pt x="12" y="0"/>
                    <a:pt x="0" y="12"/>
                    <a:pt x="0" y="26"/>
                  </a:cubicBezTo>
                  <a:cubicBezTo>
                    <a:pt x="0" y="40"/>
                    <a:pt x="12" y="52"/>
                    <a:pt x="26" y="52"/>
                  </a:cubicBezTo>
                  <a:cubicBezTo>
                    <a:pt x="40" y="52"/>
                    <a:pt x="52" y="40"/>
                    <a:pt x="52" y="26"/>
                  </a:cubicBezTo>
                  <a:cubicBezTo>
                    <a:pt x="52" y="12"/>
                    <a:pt x="40" y="0"/>
                    <a:pt x="26" y="0"/>
                  </a:cubicBezTo>
                  <a:close/>
                  <a:moveTo>
                    <a:pt x="32" y="30"/>
                  </a:moveTo>
                  <a:cubicBezTo>
                    <a:pt x="22" y="30"/>
                    <a:pt x="22" y="30"/>
                    <a:pt x="22" y="30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2"/>
                    <a:pt x="23" y="11"/>
                    <a:pt x="24" y="11"/>
                  </a:cubicBezTo>
                  <a:cubicBezTo>
                    <a:pt x="25" y="11"/>
                    <a:pt x="26" y="12"/>
                    <a:pt x="26" y="13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34" y="26"/>
                    <a:pt x="35" y="27"/>
                    <a:pt x="35" y="28"/>
                  </a:cubicBezTo>
                  <a:cubicBezTo>
                    <a:pt x="35" y="29"/>
                    <a:pt x="34" y="30"/>
                    <a:pt x="32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24165F7-DBB9-AD00-3A0D-10316CB8E82F}"/>
              </a:ext>
            </a:extLst>
          </p:cNvPr>
          <p:cNvSpPr txBox="1"/>
          <p:nvPr/>
        </p:nvSpPr>
        <p:spPr>
          <a:xfrm>
            <a:off x="3105321" y="4417555"/>
            <a:ext cx="2400210" cy="53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ts val="1830"/>
              </a:lnSpc>
              <a:defRPr/>
            </a:pPr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Protecting revenue from operational disruption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904C8C0E-D427-2001-EBF8-E996CA0158BE}"/>
              </a:ext>
            </a:extLst>
          </p:cNvPr>
          <p:cNvGrpSpPr/>
          <p:nvPr/>
        </p:nvGrpSpPr>
        <p:grpSpPr>
          <a:xfrm>
            <a:off x="3105320" y="3836716"/>
            <a:ext cx="2405063" cy="658243"/>
            <a:chOff x="845162" y="1766375"/>
            <a:chExt cx="2405063" cy="658243"/>
          </a:xfrm>
        </p:grpSpPr>
        <p:sp>
          <p:nvSpPr>
            <p:cNvPr id="9" name="Rectangle 72">
              <a:extLst>
                <a:ext uri="{FF2B5EF4-FFF2-40B4-BE49-F238E27FC236}">
                  <a16:creationId xmlns:a16="http://schemas.microsoft.com/office/drawing/2014/main" id="{D734F953-DB65-064D-1904-8BAD8C4406FB}"/>
                </a:ext>
              </a:extLst>
            </p:cNvPr>
            <p:cNvSpPr/>
            <p:nvPr/>
          </p:nvSpPr>
          <p:spPr>
            <a:xfrm>
              <a:off x="850015" y="1766375"/>
              <a:ext cx="2400210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CuadroTexto 395">
              <a:extLst>
                <a:ext uri="{FF2B5EF4-FFF2-40B4-BE49-F238E27FC236}">
                  <a16:creationId xmlns:a16="http://schemas.microsoft.com/office/drawing/2014/main" id="{0D0B0BAD-18E6-53E8-6876-8EB912787020}"/>
                </a:ext>
              </a:extLst>
            </p:cNvPr>
            <p:cNvSpPr txBox="1"/>
            <p:nvPr/>
          </p:nvSpPr>
          <p:spPr>
            <a:xfrm>
              <a:off x="845162" y="1839843"/>
              <a:ext cx="23002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Business continuity</a:t>
              </a:r>
            </a:p>
            <a:p>
              <a:pPr lvl="0" algn="ctr" defTabSz="457200">
                <a:defRPr/>
              </a:pPr>
              <a:endParaRPr lang="en-US" sz="1600" dirty="0">
                <a:solidFill>
                  <a:srgbClr val="FFFFFF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AE2039F-946A-EDD6-1978-856751F9E370}"/>
              </a:ext>
            </a:extLst>
          </p:cNvPr>
          <p:cNvSpPr txBox="1"/>
          <p:nvPr/>
        </p:nvSpPr>
        <p:spPr>
          <a:xfrm>
            <a:off x="3105321" y="2913472"/>
            <a:ext cx="2400211" cy="53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ts val="1830"/>
              </a:lnSpc>
              <a:defRPr/>
            </a:pPr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Governance embedded into infrastructure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36951320-7D59-76DF-6606-B0F01D52893D}"/>
              </a:ext>
            </a:extLst>
          </p:cNvPr>
          <p:cNvGrpSpPr/>
          <p:nvPr/>
        </p:nvGrpSpPr>
        <p:grpSpPr>
          <a:xfrm>
            <a:off x="3105321" y="2332633"/>
            <a:ext cx="2405063" cy="485490"/>
            <a:chOff x="845162" y="1766375"/>
            <a:chExt cx="2405063" cy="485490"/>
          </a:xfrm>
        </p:grpSpPr>
        <p:sp>
          <p:nvSpPr>
            <p:cNvPr id="14" name="Rectangle 72">
              <a:extLst>
                <a:ext uri="{FF2B5EF4-FFF2-40B4-BE49-F238E27FC236}">
                  <a16:creationId xmlns:a16="http://schemas.microsoft.com/office/drawing/2014/main" id="{B9D3D4D1-A68C-1F1C-F878-503153DB518B}"/>
                </a:ext>
              </a:extLst>
            </p:cNvPr>
            <p:cNvSpPr/>
            <p:nvPr/>
          </p:nvSpPr>
          <p:spPr>
            <a:xfrm>
              <a:off x="850015" y="1766375"/>
              <a:ext cx="2400210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CuadroTexto 395">
              <a:extLst>
                <a:ext uri="{FF2B5EF4-FFF2-40B4-BE49-F238E27FC236}">
                  <a16:creationId xmlns:a16="http://schemas.microsoft.com/office/drawing/2014/main" id="{9FF99754-4CC9-DF21-6612-2F1B4745B1BF}"/>
                </a:ext>
              </a:extLst>
            </p:cNvPr>
            <p:cNvSpPr txBox="1"/>
            <p:nvPr/>
          </p:nvSpPr>
          <p:spPr>
            <a:xfrm>
              <a:off x="845162" y="1839843"/>
              <a:ext cx="23002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Regulatory alignment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EAA2377-8A8A-40DF-C05F-6FC0BAB03AC3}"/>
              </a:ext>
            </a:extLst>
          </p:cNvPr>
          <p:cNvSpPr txBox="1"/>
          <p:nvPr/>
        </p:nvSpPr>
        <p:spPr>
          <a:xfrm>
            <a:off x="3007664" y="1516227"/>
            <a:ext cx="6176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Resilience is a business strategy — not an IT feature</a:t>
            </a:r>
            <a:endParaRPr lang="ru-RU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B24F3A-25F5-C064-AE3C-5F4E5D011E7E}"/>
              </a:ext>
            </a:extLst>
          </p:cNvPr>
          <p:cNvSpPr txBox="1"/>
          <p:nvPr/>
        </p:nvSpPr>
        <p:spPr>
          <a:xfrm>
            <a:off x="5971037" y="4417555"/>
            <a:ext cx="2400210" cy="53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ts val="1830"/>
              </a:lnSpc>
              <a:defRPr/>
            </a:pPr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Infrastructure aligned with financial planning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AA97F442-6821-CE4B-F1F7-3EFE12201AAB}"/>
              </a:ext>
            </a:extLst>
          </p:cNvPr>
          <p:cNvGrpSpPr/>
          <p:nvPr/>
        </p:nvGrpSpPr>
        <p:grpSpPr>
          <a:xfrm>
            <a:off x="5971036" y="3836716"/>
            <a:ext cx="2405063" cy="485490"/>
            <a:chOff x="845162" y="1766375"/>
            <a:chExt cx="2405063" cy="485490"/>
          </a:xfrm>
        </p:grpSpPr>
        <p:sp>
          <p:nvSpPr>
            <p:cNvPr id="21" name="Rectangle 72">
              <a:extLst>
                <a:ext uri="{FF2B5EF4-FFF2-40B4-BE49-F238E27FC236}">
                  <a16:creationId xmlns:a16="http://schemas.microsoft.com/office/drawing/2014/main" id="{0B3B41FD-0FB8-357F-CEE7-D74AFD121565}"/>
                </a:ext>
              </a:extLst>
            </p:cNvPr>
            <p:cNvSpPr/>
            <p:nvPr/>
          </p:nvSpPr>
          <p:spPr>
            <a:xfrm>
              <a:off x="850015" y="1766375"/>
              <a:ext cx="2400210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CuadroTexto 395">
              <a:extLst>
                <a:ext uri="{FF2B5EF4-FFF2-40B4-BE49-F238E27FC236}">
                  <a16:creationId xmlns:a16="http://schemas.microsoft.com/office/drawing/2014/main" id="{AB6D3022-5095-605B-16CB-AD7CFB31DBF3}"/>
                </a:ext>
              </a:extLst>
            </p:cNvPr>
            <p:cNvSpPr txBox="1"/>
            <p:nvPr/>
          </p:nvSpPr>
          <p:spPr>
            <a:xfrm>
              <a:off x="845162" y="1839843"/>
              <a:ext cx="23002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ru-RU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С</a:t>
              </a:r>
              <a:r>
                <a:rPr lang="en-US" sz="1600" dirty="0" err="1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ost</a:t>
              </a: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 predictability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750A28E-CBAF-035E-16E4-485D35C2F69C}"/>
              </a:ext>
            </a:extLst>
          </p:cNvPr>
          <p:cNvSpPr txBox="1"/>
          <p:nvPr/>
        </p:nvSpPr>
        <p:spPr>
          <a:xfrm>
            <a:off x="4653768" y="5868106"/>
            <a:ext cx="2400211" cy="537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ts val="1830"/>
              </a:lnSpc>
              <a:defRPr/>
            </a:pPr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Scalable, governed data environments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5F38D8AA-5F84-D9C3-D77F-42B297792836}"/>
              </a:ext>
            </a:extLst>
          </p:cNvPr>
          <p:cNvGrpSpPr/>
          <p:nvPr/>
        </p:nvGrpSpPr>
        <p:grpSpPr>
          <a:xfrm>
            <a:off x="4653768" y="5287267"/>
            <a:ext cx="2405063" cy="485490"/>
            <a:chOff x="845162" y="1766375"/>
            <a:chExt cx="2405063" cy="485490"/>
          </a:xfrm>
        </p:grpSpPr>
        <p:sp>
          <p:nvSpPr>
            <p:cNvPr id="37" name="Rectangle 72">
              <a:extLst>
                <a:ext uri="{FF2B5EF4-FFF2-40B4-BE49-F238E27FC236}">
                  <a16:creationId xmlns:a16="http://schemas.microsoft.com/office/drawing/2014/main" id="{31C3EE7D-C764-D825-2F65-C328BC445C05}"/>
                </a:ext>
              </a:extLst>
            </p:cNvPr>
            <p:cNvSpPr/>
            <p:nvPr/>
          </p:nvSpPr>
          <p:spPr>
            <a:xfrm>
              <a:off x="850015" y="1766375"/>
              <a:ext cx="2400210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CuadroTexto 395">
              <a:extLst>
                <a:ext uri="{FF2B5EF4-FFF2-40B4-BE49-F238E27FC236}">
                  <a16:creationId xmlns:a16="http://schemas.microsoft.com/office/drawing/2014/main" id="{283B09FF-106B-27C6-0F50-F3A0EF4861FF}"/>
                </a:ext>
              </a:extLst>
            </p:cNvPr>
            <p:cNvSpPr txBox="1"/>
            <p:nvPr/>
          </p:nvSpPr>
          <p:spPr>
            <a:xfrm>
              <a:off x="845162" y="1839843"/>
              <a:ext cx="230028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AI-ready foundations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9673EEA-D3BA-441E-3C96-F930C2DBD4A7}"/>
              </a:ext>
            </a:extLst>
          </p:cNvPr>
          <p:cNvSpPr txBox="1"/>
          <p:nvPr/>
        </p:nvSpPr>
        <p:spPr>
          <a:xfrm>
            <a:off x="6036640" y="2915014"/>
            <a:ext cx="2400210" cy="536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lnSpc>
                <a:spcPts val="1830"/>
              </a:lnSpc>
              <a:defRPr/>
            </a:pPr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Systems designed to withstand failure</a:t>
            </a: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1BB2D603-7B2C-A1BF-7E57-12A15AFEF6CC}"/>
              </a:ext>
            </a:extLst>
          </p:cNvPr>
          <p:cNvGrpSpPr/>
          <p:nvPr/>
        </p:nvGrpSpPr>
        <p:grpSpPr>
          <a:xfrm>
            <a:off x="6036639" y="2334175"/>
            <a:ext cx="2405063" cy="658243"/>
            <a:chOff x="845162" y="1766375"/>
            <a:chExt cx="2405063" cy="658243"/>
          </a:xfrm>
        </p:grpSpPr>
        <p:sp>
          <p:nvSpPr>
            <p:cNvPr id="48" name="Rectangle 72">
              <a:extLst>
                <a:ext uri="{FF2B5EF4-FFF2-40B4-BE49-F238E27FC236}">
                  <a16:creationId xmlns:a16="http://schemas.microsoft.com/office/drawing/2014/main" id="{30DEF202-B409-63C5-FB4A-937B3020ECEA}"/>
                </a:ext>
              </a:extLst>
            </p:cNvPr>
            <p:cNvSpPr/>
            <p:nvPr/>
          </p:nvSpPr>
          <p:spPr>
            <a:xfrm>
              <a:off x="850015" y="1766375"/>
              <a:ext cx="2400210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CuadroTexto 395">
              <a:extLst>
                <a:ext uri="{FF2B5EF4-FFF2-40B4-BE49-F238E27FC236}">
                  <a16:creationId xmlns:a16="http://schemas.microsoft.com/office/drawing/2014/main" id="{65207CC0-AD4D-2407-E0D7-5D5B81C49BB1}"/>
                </a:ext>
              </a:extLst>
            </p:cNvPr>
            <p:cNvSpPr txBox="1"/>
            <p:nvPr/>
          </p:nvSpPr>
          <p:spPr>
            <a:xfrm>
              <a:off x="845162" y="1839843"/>
              <a:ext cx="23002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Operational resilience</a:t>
              </a:r>
            </a:p>
            <a:p>
              <a:pPr lvl="0" algn="ctr" defTabSz="457200">
                <a:defRPr/>
              </a:pPr>
              <a:endParaRPr lang="en-US" sz="1600" dirty="0">
                <a:solidFill>
                  <a:srgbClr val="FFFFFF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9449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FE0B-E3F4-23D6-AC50-86C7D0386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899DA1-C288-0132-9502-031F32B57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45EB10D-749B-B38B-0627-5AE476A3AA77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ABD3C57C-1D2D-FB06-73DF-76CAFAA56D8C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2A3BBEF0-CC60-D5FA-8C6C-AF0E540E54FE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Our enterprise resilience framework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42EF91F9-A8B3-6740-80B9-B7CE07A9FB68}"/>
              </a:ext>
            </a:extLst>
          </p:cNvPr>
          <p:cNvSpPr/>
          <p:nvPr/>
        </p:nvSpPr>
        <p:spPr>
          <a:xfrm>
            <a:off x="2774927" y="2833533"/>
            <a:ext cx="8821704" cy="27201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7" name="Группа 106">
            <a:extLst>
              <a:ext uri="{FF2B5EF4-FFF2-40B4-BE49-F238E27FC236}">
                <a16:creationId xmlns:a16="http://schemas.microsoft.com/office/drawing/2014/main" id="{E723019E-8B3A-EC40-0CDC-4796A8B3A31B}"/>
              </a:ext>
            </a:extLst>
          </p:cNvPr>
          <p:cNvGrpSpPr/>
          <p:nvPr/>
        </p:nvGrpSpPr>
        <p:grpSpPr>
          <a:xfrm>
            <a:off x="3148762" y="2283906"/>
            <a:ext cx="1482192" cy="485490"/>
            <a:chOff x="845163" y="1766375"/>
            <a:chExt cx="1482192" cy="485490"/>
          </a:xfrm>
        </p:grpSpPr>
        <p:sp>
          <p:nvSpPr>
            <p:cNvPr id="65" name="Rectangle 72">
              <a:extLst>
                <a:ext uri="{FF2B5EF4-FFF2-40B4-BE49-F238E27FC236}">
                  <a16:creationId xmlns:a16="http://schemas.microsoft.com/office/drawing/2014/main" id="{63656CF8-D0C1-D368-18A4-EE96C476AC4D}"/>
                </a:ext>
              </a:extLst>
            </p:cNvPr>
            <p:cNvSpPr/>
            <p:nvPr/>
          </p:nvSpPr>
          <p:spPr>
            <a:xfrm>
              <a:off x="850015" y="1766375"/>
              <a:ext cx="1472489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CuadroTexto 395">
              <a:extLst>
                <a:ext uri="{FF2B5EF4-FFF2-40B4-BE49-F238E27FC236}">
                  <a16:creationId xmlns:a16="http://schemas.microsoft.com/office/drawing/2014/main" id="{4D9C0670-334B-559C-67A9-D98C8D028F52}"/>
                </a:ext>
              </a:extLst>
            </p:cNvPr>
            <p:cNvSpPr txBox="1"/>
            <p:nvPr/>
          </p:nvSpPr>
          <p:spPr>
            <a:xfrm>
              <a:off x="845163" y="1839843"/>
              <a:ext cx="14821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Prevention</a:t>
              </a:r>
              <a:endPara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7C4BAB4-B54C-2ABB-0B7B-81191412CA24}"/>
              </a:ext>
            </a:extLst>
          </p:cNvPr>
          <p:cNvSpPr txBox="1"/>
          <p:nvPr/>
        </p:nvSpPr>
        <p:spPr>
          <a:xfrm>
            <a:off x="3130686" y="2812614"/>
            <a:ext cx="151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Reduce incident probability</a:t>
            </a:r>
          </a:p>
        </p:txBody>
      </p: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933A3BF7-B467-4E47-AA85-E77794310044}"/>
              </a:ext>
            </a:extLst>
          </p:cNvPr>
          <p:cNvGrpSpPr/>
          <p:nvPr/>
        </p:nvGrpSpPr>
        <p:grpSpPr>
          <a:xfrm>
            <a:off x="4915334" y="2283906"/>
            <a:ext cx="1482192" cy="485490"/>
            <a:chOff x="2611735" y="1766375"/>
            <a:chExt cx="1482192" cy="485490"/>
          </a:xfrm>
        </p:grpSpPr>
        <p:sp>
          <p:nvSpPr>
            <p:cNvPr id="68" name="Rectangle 72">
              <a:extLst>
                <a:ext uri="{FF2B5EF4-FFF2-40B4-BE49-F238E27FC236}">
                  <a16:creationId xmlns:a16="http://schemas.microsoft.com/office/drawing/2014/main" id="{63095C4C-40BA-60BE-0B20-67E986C0DCF1}"/>
                </a:ext>
              </a:extLst>
            </p:cNvPr>
            <p:cNvSpPr/>
            <p:nvPr/>
          </p:nvSpPr>
          <p:spPr>
            <a:xfrm>
              <a:off x="2616587" y="1766375"/>
              <a:ext cx="1472489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CuadroTexto 395">
              <a:extLst>
                <a:ext uri="{FF2B5EF4-FFF2-40B4-BE49-F238E27FC236}">
                  <a16:creationId xmlns:a16="http://schemas.microsoft.com/office/drawing/2014/main" id="{77B378B1-D5BE-4B02-6079-E76887F29BA3}"/>
                </a:ext>
              </a:extLst>
            </p:cNvPr>
            <p:cNvSpPr txBox="1"/>
            <p:nvPr/>
          </p:nvSpPr>
          <p:spPr>
            <a:xfrm>
              <a:off x="2611735" y="1839843"/>
              <a:ext cx="14821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Protection</a:t>
              </a:r>
              <a:endPara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494C8DE7-B17D-B627-E69A-4075D19B8150}"/>
              </a:ext>
            </a:extLst>
          </p:cNvPr>
          <p:cNvSpPr txBox="1"/>
          <p:nvPr/>
        </p:nvSpPr>
        <p:spPr>
          <a:xfrm>
            <a:off x="4835165" y="2870844"/>
            <a:ext cx="1689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Secure infrastructure and data layers</a:t>
            </a:r>
          </a:p>
        </p:txBody>
      </p:sp>
      <p:grpSp>
        <p:nvGrpSpPr>
          <p:cNvPr id="109" name="Группа 108">
            <a:extLst>
              <a:ext uri="{FF2B5EF4-FFF2-40B4-BE49-F238E27FC236}">
                <a16:creationId xmlns:a16="http://schemas.microsoft.com/office/drawing/2014/main" id="{1F424879-B1BD-751A-474B-CC3721A3BBCD}"/>
              </a:ext>
            </a:extLst>
          </p:cNvPr>
          <p:cNvGrpSpPr/>
          <p:nvPr/>
        </p:nvGrpSpPr>
        <p:grpSpPr>
          <a:xfrm>
            <a:off x="6681906" y="2283906"/>
            <a:ext cx="1482192" cy="485490"/>
            <a:chOff x="4378307" y="1766375"/>
            <a:chExt cx="1482192" cy="485490"/>
          </a:xfrm>
        </p:grpSpPr>
        <p:sp>
          <p:nvSpPr>
            <p:cNvPr id="75" name="Rectangle 72">
              <a:extLst>
                <a:ext uri="{FF2B5EF4-FFF2-40B4-BE49-F238E27FC236}">
                  <a16:creationId xmlns:a16="http://schemas.microsoft.com/office/drawing/2014/main" id="{D1917B5F-346A-5C00-8118-E274E9CDC1C0}"/>
                </a:ext>
              </a:extLst>
            </p:cNvPr>
            <p:cNvSpPr/>
            <p:nvPr/>
          </p:nvSpPr>
          <p:spPr>
            <a:xfrm>
              <a:off x="4383159" y="1766375"/>
              <a:ext cx="1472489" cy="4854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1F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CuadroTexto 395">
              <a:extLst>
                <a:ext uri="{FF2B5EF4-FFF2-40B4-BE49-F238E27FC236}">
                  <a16:creationId xmlns:a16="http://schemas.microsoft.com/office/drawing/2014/main" id="{BB9D9477-2D01-5335-B3C0-4C03CEC21E9A}"/>
                </a:ext>
              </a:extLst>
            </p:cNvPr>
            <p:cNvSpPr txBox="1"/>
            <p:nvPr/>
          </p:nvSpPr>
          <p:spPr>
            <a:xfrm>
              <a:off x="4378307" y="1839843"/>
              <a:ext cx="14821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FFFFFF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Preparedness</a:t>
              </a:r>
              <a:endPara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0D46FFD6-C2EC-DC12-5995-AA1EE25F3579}"/>
              </a:ext>
            </a:extLst>
          </p:cNvPr>
          <p:cNvSpPr txBox="1"/>
          <p:nvPr/>
        </p:nvSpPr>
        <p:spPr>
          <a:xfrm>
            <a:off x="6524911" y="2812614"/>
            <a:ext cx="165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Operational readiness and control</a:t>
            </a: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C0EE20DB-FD91-2FCD-AF5E-2ABA47975FC2}"/>
              </a:ext>
            </a:extLst>
          </p:cNvPr>
          <p:cNvGrpSpPr/>
          <p:nvPr/>
        </p:nvGrpSpPr>
        <p:grpSpPr>
          <a:xfrm>
            <a:off x="3080447" y="3664471"/>
            <a:ext cx="5199181" cy="1017847"/>
            <a:chOff x="6056024" y="2375975"/>
            <a:chExt cx="5199181" cy="1017847"/>
          </a:xfrm>
        </p:grpSpPr>
        <p:grpSp>
          <p:nvGrpSpPr>
            <p:cNvPr id="110" name="Группа 109">
              <a:extLst>
                <a:ext uri="{FF2B5EF4-FFF2-40B4-BE49-F238E27FC236}">
                  <a16:creationId xmlns:a16="http://schemas.microsoft.com/office/drawing/2014/main" id="{6A25B3E5-CCBF-EB62-68C6-3FF30E5A8311}"/>
                </a:ext>
              </a:extLst>
            </p:cNvPr>
            <p:cNvGrpSpPr/>
            <p:nvPr/>
          </p:nvGrpSpPr>
          <p:grpSpPr>
            <a:xfrm>
              <a:off x="6174577" y="2375975"/>
              <a:ext cx="1482192" cy="485490"/>
              <a:chOff x="6144879" y="1766375"/>
              <a:chExt cx="1482192" cy="485490"/>
            </a:xfrm>
          </p:grpSpPr>
          <p:sp>
            <p:nvSpPr>
              <p:cNvPr id="81" name="Rectangle 72">
                <a:extLst>
                  <a:ext uri="{FF2B5EF4-FFF2-40B4-BE49-F238E27FC236}">
                    <a16:creationId xmlns:a16="http://schemas.microsoft.com/office/drawing/2014/main" id="{246E27B8-414A-FDB0-94D6-01194706CD22}"/>
                  </a:ext>
                </a:extLst>
              </p:cNvPr>
              <p:cNvSpPr/>
              <p:nvPr/>
            </p:nvSpPr>
            <p:spPr>
              <a:xfrm>
                <a:off x="6149731" y="1766375"/>
                <a:ext cx="1472489" cy="48549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F5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CuadroTexto 395">
                <a:extLst>
                  <a:ext uri="{FF2B5EF4-FFF2-40B4-BE49-F238E27FC236}">
                    <a16:creationId xmlns:a16="http://schemas.microsoft.com/office/drawing/2014/main" id="{AD7A8796-69E0-4560-23ED-2EF3C738E655}"/>
                  </a:ext>
                </a:extLst>
              </p:cNvPr>
              <p:cNvSpPr txBox="1"/>
              <p:nvPr/>
            </p:nvSpPr>
            <p:spPr>
              <a:xfrm>
                <a:off x="6144879" y="1839843"/>
                <a:ext cx="1482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 defTabSz="457200">
                  <a:defRPr/>
                </a:pPr>
                <a:r>
                  <a:rPr lang="en-US" sz="1600" dirty="0">
                    <a:solidFill>
                      <a:srgbClr val="FFFFFF"/>
                    </a:solidFill>
                    <a:latin typeface="Helios" panose="020B0604020202020204" charset="0"/>
                    <a:ea typeface="Lato Semibold" panose="020F0502020204030203" pitchFamily="34" charset="0"/>
                    <a:cs typeface="Poppins SemiBold" pitchFamily="2" charset="77"/>
                  </a:rPr>
                  <a:t>Response</a:t>
                </a:r>
                <a:endPara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7979A58-224E-D78D-16EA-CC35959E9397}"/>
                </a:ext>
              </a:extLst>
            </p:cNvPr>
            <p:cNvSpPr txBox="1"/>
            <p:nvPr/>
          </p:nvSpPr>
          <p:spPr>
            <a:xfrm>
              <a:off x="6056024" y="2932157"/>
              <a:ext cx="17598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Rapid containment and downtime minimization</a:t>
              </a:r>
            </a:p>
          </p:txBody>
        </p:sp>
        <p:grpSp>
          <p:nvGrpSpPr>
            <p:cNvPr id="111" name="Группа 110">
              <a:extLst>
                <a:ext uri="{FF2B5EF4-FFF2-40B4-BE49-F238E27FC236}">
                  <a16:creationId xmlns:a16="http://schemas.microsoft.com/office/drawing/2014/main" id="{AA798658-9C83-3B8A-8718-BA1ED4326048}"/>
                </a:ext>
              </a:extLst>
            </p:cNvPr>
            <p:cNvGrpSpPr/>
            <p:nvPr/>
          </p:nvGrpSpPr>
          <p:grpSpPr>
            <a:xfrm>
              <a:off x="7941149" y="2375975"/>
              <a:ext cx="1482192" cy="485490"/>
              <a:chOff x="7911451" y="1766375"/>
              <a:chExt cx="1482192" cy="485490"/>
            </a:xfrm>
          </p:grpSpPr>
          <p:sp>
            <p:nvSpPr>
              <p:cNvPr id="87" name="Rectangle 72">
                <a:extLst>
                  <a:ext uri="{FF2B5EF4-FFF2-40B4-BE49-F238E27FC236}">
                    <a16:creationId xmlns:a16="http://schemas.microsoft.com/office/drawing/2014/main" id="{B9E363CB-CAF5-8C37-2C0E-3C5538C82289}"/>
                  </a:ext>
                </a:extLst>
              </p:cNvPr>
              <p:cNvSpPr/>
              <p:nvPr/>
            </p:nvSpPr>
            <p:spPr>
              <a:xfrm>
                <a:off x="7916303" y="1766375"/>
                <a:ext cx="1472489" cy="48549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F5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CuadroTexto 395">
                <a:extLst>
                  <a:ext uri="{FF2B5EF4-FFF2-40B4-BE49-F238E27FC236}">
                    <a16:creationId xmlns:a16="http://schemas.microsoft.com/office/drawing/2014/main" id="{C7FCF4F2-8C18-6238-886C-5EC0BC003001}"/>
                  </a:ext>
                </a:extLst>
              </p:cNvPr>
              <p:cNvSpPr txBox="1"/>
              <p:nvPr/>
            </p:nvSpPr>
            <p:spPr>
              <a:xfrm>
                <a:off x="7911451" y="1839843"/>
                <a:ext cx="1482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 defTabSz="457200">
                  <a:defRPr/>
                </a:pPr>
                <a:r>
                  <a:rPr lang="en-US" sz="1600" dirty="0">
                    <a:solidFill>
                      <a:srgbClr val="FFFFFF"/>
                    </a:solidFill>
                    <a:latin typeface="Helios" panose="020B0604020202020204" charset="0"/>
                    <a:ea typeface="Lato Semibold" panose="020F0502020204030203" pitchFamily="34" charset="0"/>
                    <a:cs typeface="Poppins SemiBold" pitchFamily="2" charset="77"/>
                  </a:rPr>
                  <a:t>Recovery</a:t>
                </a:r>
                <a:endPara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endParaRPr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A41C60B-E3C6-BF1F-94BF-C7A4C62501DC}"/>
                </a:ext>
              </a:extLst>
            </p:cNvPr>
            <p:cNvSpPr txBox="1"/>
            <p:nvPr/>
          </p:nvSpPr>
          <p:spPr>
            <a:xfrm>
              <a:off x="7923073" y="2904683"/>
              <a:ext cx="1518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Restore systems without data loss</a:t>
              </a:r>
            </a:p>
          </p:txBody>
        </p:sp>
        <p:grpSp>
          <p:nvGrpSpPr>
            <p:cNvPr id="112" name="Группа 111">
              <a:extLst>
                <a:ext uri="{FF2B5EF4-FFF2-40B4-BE49-F238E27FC236}">
                  <a16:creationId xmlns:a16="http://schemas.microsoft.com/office/drawing/2014/main" id="{08415950-C8D2-8187-FFA5-E6F8D995052C}"/>
                </a:ext>
              </a:extLst>
            </p:cNvPr>
            <p:cNvGrpSpPr/>
            <p:nvPr/>
          </p:nvGrpSpPr>
          <p:grpSpPr>
            <a:xfrm>
              <a:off x="9754937" y="2375975"/>
              <a:ext cx="1482192" cy="485490"/>
              <a:chOff x="9678022" y="1766375"/>
              <a:chExt cx="1482192" cy="485490"/>
            </a:xfrm>
          </p:grpSpPr>
          <p:sp>
            <p:nvSpPr>
              <p:cNvPr id="93" name="Rectangle 72">
                <a:extLst>
                  <a:ext uri="{FF2B5EF4-FFF2-40B4-BE49-F238E27FC236}">
                    <a16:creationId xmlns:a16="http://schemas.microsoft.com/office/drawing/2014/main" id="{3148A89E-D996-15DA-970C-C8B87070CBE0}"/>
                  </a:ext>
                </a:extLst>
              </p:cNvPr>
              <p:cNvSpPr/>
              <p:nvPr/>
            </p:nvSpPr>
            <p:spPr>
              <a:xfrm>
                <a:off x="9682874" y="1766375"/>
                <a:ext cx="1472489" cy="48549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1F5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CuadroTexto 395">
                <a:extLst>
                  <a:ext uri="{FF2B5EF4-FFF2-40B4-BE49-F238E27FC236}">
                    <a16:creationId xmlns:a16="http://schemas.microsoft.com/office/drawing/2014/main" id="{DDBDB0DE-98B0-CD0C-78DC-D4FF199FD019}"/>
                  </a:ext>
                </a:extLst>
              </p:cNvPr>
              <p:cNvSpPr txBox="1"/>
              <p:nvPr/>
            </p:nvSpPr>
            <p:spPr>
              <a:xfrm>
                <a:off x="9678022" y="1839843"/>
                <a:ext cx="1482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 defTabSz="457200">
                  <a:defRPr/>
                </a:pPr>
                <a:r>
                  <a:rPr lang="en-US" sz="1600" dirty="0">
                    <a:solidFill>
                      <a:srgbClr val="FFFFFF"/>
                    </a:solidFill>
                    <a:latin typeface="Helios" panose="020B0604020202020204" charset="0"/>
                    <a:ea typeface="Lato Semibold" panose="020F0502020204030203" pitchFamily="34" charset="0"/>
                    <a:cs typeface="Poppins SemiBold" pitchFamily="2" charset="77"/>
                  </a:rPr>
                  <a:t>Governance</a:t>
                </a:r>
                <a:endParaRPr kumimoji="0" 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endParaRPr>
              </a:p>
            </p:txBody>
          </p: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C8A3792-9A3E-375A-CECE-E89057B3A90C}"/>
                </a:ext>
              </a:extLst>
            </p:cNvPr>
            <p:cNvSpPr txBox="1"/>
            <p:nvPr/>
          </p:nvSpPr>
          <p:spPr>
            <a:xfrm>
              <a:off x="9736861" y="2904683"/>
              <a:ext cx="15183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Compliance and executive visibility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5AA6632B-6F2E-3A18-AF27-0842051D82E9}"/>
              </a:ext>
            </a:extLst>
          </p:cNvPr>
          <p:cNvSpPr txBox="1"/>
          <p:nvPr/>
        </p:nvSpPr>
        <p:spPr>
          <a:xfrm>
            <a:off x="1565758" y="4823739"/>
            <a:ext cx="32036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spc="68" dirty="0">
                <a:solidFill>
                  <a:srgbClr val="E97132"/>
                </a:solidFill>
                <a:latin typeface="Helios" panose="020B0604020202020204" charset="0"/>
              </a:rPr>
              <a:t>Continuous operational cycle</a:t>
            </a:r>
            <a:endParaRPr lang="ru-RU" sz="1600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BF3C3D-CBE4-8447-5ED5-57BBFE943B30}"/>
              </a:ext>
            </a:extLst>
          </p:cNvPr>
          <p:cNvSpPr txBox="1"/>
          <p:nvPr/>
        </p:nvSpPr>
        <p:spPr>
          <a:xfrm>
            <a:off x="1565758" y="1658070"/>
            <a:ext cx="7676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Resilience is embedded into operations — not applied after failure</a:t>
            </a:r>
            <a:endParaRPr lang="ru-RU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9D5140C-48B0-7E38-F5A4-BFCBA32698D1}"/>
              </a:ext>
            </a:extLst>
          </p:cNvPr>
          <p:cNvGrpSpPr/>
          <p:nvPr/>
        </p:nvGrpSpPr>
        <p:grpSpPr>
          <a:xfrm>
            <a:off x="1905001" y="5417504"/>
            <a:ext cx="2052034" cy="592530"/>
            <a:chOff x="2192984" y="5937508"/>
            <a:chExt cx="2052034" cy="592530"/>
          </a:xfrm>
        </p:grpSpPr>
        <p:sp>
          <p:nvSpPr>
            <p:cNvPr id="27" name="Pentagon 1">
              <a:extLst>
                <a:ext uri="{FF2B5EF4-FFF2-40B4-BE49-F238E27FC236}">
                  <a16:creationId xmlns:a16="http://schemas.microsoft.com/office/drawing/2014/main" id="{562BAEF9-5B00-610A-7112-363FD9BD60AC}"/>
                </a:ext>
              </a:extLst>
            </p:cNvPr>
            <p:cNvSpPr/>
            <p:nvPr/>
          </p:nvSpPr>
          <p:spPr>
            <a:xfrm>
              <a:off x="2192984" y="5937508"/>
              <a:ext cx="2052034" cy="592530"/>
            </a:xfrm>
            <a:prstGeom prst="homePlate">
              <a:avLst/>
            </a:prstGeom>
            <a:noFill/>
            <a:ln>
              <a:solidFill>
                <a:srgbClr val="E971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TextBox 26">
              <a:extLst>
                <a:ext uri="{FF2B5EF4-FFF2-40B4-BE49-F238E27FC236}">
                  <a16:creationId xmlns:a16="http://schemas.microsoft.com/office/drawing/2014/main" id="{4E0F291D-962A-0D41-F3E7-7B9D76039BDF}"/>
                </a:ext>
              </a:extLst>
            </p:cNvPr>
            <p:cNvSpPr txBox="1"/>
            <p:nvPr/>
          </p:nvSpPr>
          <p:spPr>
            <a:xfrm>
              <a:off x="2353677" y="6042004"/>
              <a:ext cx="13714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Assessment</a:t>
              </a:r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B4A3CD90-AA27-30C7-5539-219D8980E8E3}"/>
              </a:ext>
            </a:extLst>
          </p:cNvPr>
          <p:cNvGrpSpPr/>
          <p:nvPr/>
        </p:nvGrpSpPr>
        <p:grpSpPr>
          <a:xfrm>
            <a:off x="4039332" y="5404327"/>
            <a:ext cx="2052034" cy="592530"/>
            <a:chOff x="2192984" y="5937508"/>
            <a:chExt cx="2052034" cy="592530"/>
          </a:xfrm>
        </p:grpSpPr>
        <p:sp>
          <p:nvSpPr>
            <p:cNvPr id="32" name="Pentagon 1">
              <a:extLst>
                <a:ext uri="{FF2B5EF4-FFF2-40B4-BE49-F238E27FC236}">
                  <a16:creationId xmlns:a16="http://schemas.microsoft.com/office/drawing/2014/main" id="{94388137-1AF1-251E-DC93-932AC4E3F390}"/>
                </a:ext>
              </a:extLst>
            </p:cNvPr>
            <p:cNvSpPr/>
            <p:nvPr/>
          </p:nvSpPr>
          <p:spPr>
            <a:xfrm>
              <a:off x="2192984" y="5937508"/>
              <a:ext cx="2052034" cy="592530"/>
            </a:xfrm>
            <a:prstGeom prst="homePlate">
              <a:avLst/>
            </a:prstGeom>
            <a:no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26">
              <a:extLst>
                <a:ext uri="{FF2B5EF4-FFF2-40B4-BE49-F238E27FC236}">
                  <a16:creationId xmlns:a16="http://schemas.microsoft.com/office/drawing/2014/main" id="{1374E7A7-E8A0-F502-47D9-4BDD186E1DE7}"/>
                </a:ext>
              </a:extLst>
            </p:cNvPr>
            <p:cNvSpPr txBox="1"/>
            <p:nvPr/>
          </p:nvSpPr>
          <p:spPr>
            <a:xfrm>
              <a:off x="2353677" y="6042004"/>
              <a:ext cx="14842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156082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Preparedness</a:t>
              </a: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78BA81DF-90EB-8736-3D43-9DFD9AE63589}"/>
              </a:ext>
            </a:extLst>
          </p:cNvPr>
          <p:cNvGrpSpPr/>
          <p:nvPr/>
        </p:nvGrpSpPr>
        <p:grpSpPr>
          <a:xfrm>
            <a:off x="6174257" y="5437781"/>
            <a:ext cx="2052034" cy="592530"/>
            <a:chOff x="2192984" y="5937508"/>
            <a:chExt cx="2052034" cy="592530"/>
          </a:xfrm>
        </p:grpSpPr>
        <p:sp>
          <p:nvSpPr>
            <p:cNvPr id="39" name="Pentagon 1">
              <a:extLst>
                <a:ext uri="{FF2B5EF4-FFF2-40B4-BE49-F238E27FC236}">
                  <a16:creationId xmlns:a16="http://schemas.microsoft.com/office/drawing/2014/main" id="{AA4B84DE-656C-5A4D-9447-A81093B616A7}"/>
                </a:ext>
              </a:extLst>
            </p:cNvPr>
            <p:cNvSpPr/>
            <p:nvPr/>
          </p:nvSpPr>
          <p:spPr>
            <a:xfrm>
              <a:off x="2192984" y="5937508"/>
              <a:ext cx="2052034" cy="592530"/>
            </a:xfrm>
            <a:prstGeom prst="homePlate">
              <a:avLst/>
            </a:prstGeom>
            <a:noFill/>
            <a:ln>
              <a:solidFill>
                <a:srgbClr val="E9713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TextBox 26">
              <a:extLst>
                <a:ext uri="{FF2B5EF4-FFF2-40B4-BE49-F238E27FC236}">
                  <a16:creationId xmlns:a16="http://schemas.microsoft.com/office/drawing/2014/main" id="{148872EB-4397-8C3E-C964-82180074E954}"/>
                </a:ext>
              </a:extLst>
            </p:cNvPr>
            <p:cNvSpPr txBox="1"/>
            <p:nvPr/>
          </p:nvSpPr>
          <p:spPr>
            <a:xfrm>
              <a:off x="2353677" y="6042004"/>
              <a:ext cx="13714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defTabSz="457200">
                <a:defRPr/>
              </a:pP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Response</a:t>
              </a:r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28B8F33E-B335-9C0A-DE1D-3CAE597FF2B6}"/>
              </a:ext>
            </a:extLst>
          </p:cNvPr>
          <p:cNvGrpSpPr/>
          <p:nvPr/>
        </p:nvGrpSpPr>
        <p:grpSpPr>
          <a:xfrm>
            <a:off x="8326267" y="5387659"/>
            <a:ext cx="2052034" cy="592530"/>
            <a:chOff x="8840617" y="5387659"/>
            <a:chExt cx="2052034" cy="592530"/>
          </a:xfrm>
        </p:grpSpPr>
        <p:sp>
          <p:nvSpPr>
            <p:cNvPr id="42" name="Pentagon 1">
              <a:extLst>
                <a:ext uri="{FF2B5EF4-FFF2-40B4-BE49-F238E27FC236}">
                  <a16:creationId xmlns:a16="http://schemas.microsoft.com/office/drawing/2014/main" id="{E48D0E22-9B41-3395-A14D-D64C4306DE66}"/>
                </a:ext>
              </a:extLst>
            </p:cNvPr>
            <p:cNvSpPr/>
            <p:nvPr/>
          </p:nvSpPr>
          <p:spPr>
            <a:xfrm>
              <a:off x="8840617" y="5387659"/>
              <a:ext cx="2052034" cy="592530"/>
            </a:xfrm>
            <a:prstGeom prst="homePlate">
              <a:avLst/>
            </a:prstGeom>
            <a:noFill/>
            <a:ln>
              <a:solidFill>
                <a:srgbClr val="1560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TextBox 26">
              <a:extLst>
                <a:ext uri="{FF2B5EF4-FFF2-40B4-BE49-F238E27FC236}">
                  <a16:creationId xmlns:a16="http://schemas.microsoft.com/office/drawing/2014/main" id="{C25A6FEF-B659-3CA4-81C1-6BD9F7AD8687}"/>
                </a:ext>
              </a:extLst>
            </p:cNvPr>
            <p:cNvSpPr txBox="1"/>
            <p:nvPr/>
          </p:nvSpPr>
          <p:spPr>
            <a:xfrm>
              <a:off x="9001310" y="5492155"/>
              <a:ext cx="14842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n-US" sz="1600" dirty="0">
                  <a:solidFill>
                    <a:srgbClr val="156082"/>
                  </a:solidFill>
                  <a:latin typeface="Helios" panose="020B0604020202020204" charset="0"/>
                  <a:ea typeface="Lato Semibold" panose="020F0502020204030203" pitchFamily="34" charset="0"/>
                  <a:cs typeface="Poppins SemiBold" pitchFamily="2" charset="77"/>
                </a:rPr>
                <a:t>Recovery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715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3C37C-CBF6-3F71-5896-F44D34B5A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3CB544-6749-310E-2591-74F899174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31378E-75EA-7E28-51BE-74C1E63FF4C0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0311822D-F260-D208-16A8-0144C3408420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C9DDF62A-6702-E503-6F5C-4CCE8E6C0A36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From framework to execution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6E0AAE-9E65-916B-8036-C8EEB7B591DB}"/>
              </a:ext>
            </a:extLst>
          </p:cNvPr>
          <p:cNvSpPr txBox="1"/>
          <p:nvPr/>
        </p:nvSpPr>
        <p:spPr>
          <a:xfrm>
            <a:off x="1825955" y="1560107"/>
            <a:ext cx="7880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We translate enterprise resilience into 4 strategic capability domains</a:t>
            </a:r>
            <a:endParaRPr lang="ru-RU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22" name="Pentagon 1">
            <a:extLst>
              <a:ext uri="{FF2B5EF4-FFF2-40B4-BE49-F238E27FC236}">
                <a16:creationId xmlns:a16="http://schemas.microsoft.com/office/drawing/2014/main" id="{683EE1A5-7616-BDD3-1E24-AC0EDDBFC7F6}"/>
              </a:ext>
            </a:extLst>
          </p:cNvPr>
          <p:cNvSpPr/>
          <p:nvPr/>
        </p:nvSpPr>
        <p:spPr>
          <a:xfrm>
            <a:off x="2162175" y="2263379"/>
            <a:ext cx="3200399" cy="592530"/>
          </a:xfrm>
          <a:prstGeom prst="homePlate">
            <a:avLst/>
          </a:prstGeom>
          <a:noFill/>
          <a:ln>
            <a:solidFill>
              <a:srgbClr val="E971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5C91D29F-AEC9-05F9-BC39-12DC6EC07A19}"/>
              </a:ext>
            </a:extLst>
          </p:cNvPr>
          <p:cNvSpPr txBox="1"/>
          <p:nvPr/>
        </p:nvSpPr>
        <p:spPr>
          <a:xfrm>
            <a:off x="2533653" y="2267256"/>
            <a:ext cx="2314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1600" dirty="0">
                <a:solidFill>
                  <a:srgbClr val="E97132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Mission-critical database operations</a:t>
            </a:r>
          </a:p>
        </p:txBody>
      </p:sp>
      <p:sp>
        <p:nvSpPr>
          <p:cNvPr id="38" name="Pentagon 1">
            <a:extLst>
              <a:ext uri="{FF2B5EF4-FFF2-40B4-BE49-F238E27FC236}">
                <a16:creationId xmlns:a16="http://schemas.microsoft.com/office/drawing/2014/main" id="{E889B0AD-C550-F2DC-FF2E-F3953BFEC398}"/>
              </a:ext>
            </a:extLst>
          </p:cNvPr>
          <p:cNvSpPr/>
          <p:nvPr/>
        </p:nvSpPr>
        <p:spPr>
          <a:xfrm>
            <a:off x="2162175" y="3234411"/>
            <a:ext cx="3200399" cy="592530"/>
          </a:xfrm>
          <a:prstGeom prst="homePlate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3D83B327-EF97-8181-F947-9230271C6B18}"/>
              </a:ext>
            </a:extLst>
          </p:cNvPr>
          <p:cNvSpPr txBox="1"/>
          <p:nvPr/>
        </p:nvSpPr>
        <p:spPr>
          <a:xfrm>
            <a:off x="2533653" y="3361399"/>
            <a:ext cx="2314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1600" dirty="0">
                <a:solidFill>
                  <a:srgbClr val="156082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AI-ready data platforms</a:t>
            </a:r>
          </a:p>
        </p:txBody>
      </p:sp>
      <p:sp>
        <p:nvSpPr>
          <p:cNvPr id="40" name="Pentagon 1">
            <a:extLst>
              <a:ext uri="{FF2B5EF4-FFF2-40B4-BE49-F238E27FC236}">
                <a16:creationId xmlns:a16="http://schemas.microsoft.com/office/drawing/2014/main" id="{5FD5878E-A3F6-25D3-471C-BA3817C8F87E}"/>
              </a:ext>
            </a:extLst>
          </p:cNvPr>
          <p:cNvSpPr/>
          <p:nvPr/>
        </p:nvSpPr>
        <p:spPr>
          <a:xfrm>
            <a:off x="2162175" y="4205443"/>
            <a:ext cx="3200399" cy="592530"/>
          </a:xfrm>
          <a:prstGeom prst="homePlate">
            <a:avLst/>
          </a:prstGeom>
          <a:noFill/>
          <a:ln>
            <a:solidFill>
              <a:srgbClr val="E971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1" name="TextBox 26">
            <a:extLst>
              <a:ext uri="{FF2B5EF4-FFF2-40B4-BE49-F238E27FC236}">
                <a16:creationId xmlns:a16="http://schemas.microsoft.com/office/drawing/2014/main" id="{75115ABD-CEBB-2346-A489-D6F4233FC329}"/>
              </a:ext>
            </a:extLst>
          </p:cNvPr>
          <p:cNvSpPr txBox="1"/>
          <p:nvPr/>
        </p:nvSpPr>
        <p:spPr>
          <a:xfrm>
            <a:off x="2533653" y="4209320"/>
            <a:ext cx="2669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1600" dirty="0">
                <a:solidFill>
                  <a:srgbClr val="E97132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Automated data engineering &amp; governance</a:t>
            </a:r>
          </a:p>
        </p:txBody>
      </p:sp>
      <p:sp>
        <p:nvSpPr>
          <p:cNvPr id="42" name="Pentagon 1">
            <a:extLst>
              <a:ext uri="{FF2B5EF4-FFF2-40B4-BE49-F238E27FC236}">
                <a16:creationId xmlns:a16="http://schemas.microsoft.com/office/drawing/2014/main" id="{AAA30A00-8E93-5D07-A082-368AACCA9D22}"/>
              </a:ext>
            </a:extLst>
          </p:cNvPr>
          <p:cNvSpPr/>
          <p:nvPr/>
        </p:nvSpPr>
        <p:spPr>
          <a:xfrm>
            <a:off x="2162175" y="5176474"/>
            <a:ext cx="3200399" cy="592530"/>
          </a:xfrm>
          <a:prstGeom prst="homePlate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ECC3CE89-06C0-9669-B163-13365E0C23F5}"/>
              </a:ext>
            </a:extLst>
          </p:cNvPr>
          <p:cNvSpPr txBox="1"/>
          <p:nvPr/>
        </p:nvSpPr>
        <p:spPr>
          <a:xfrm>
            <a:off x="2533653" y="5297893"/>
            <a:ext cx="2705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1600" dirty="0">
                <a:solidFill>
                  <a:srgbClr val="156082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Cost-efficient modernization</a:t>
            </a:r>
          </a:p>
        </p:txBody>
      </p:sp>
      <p:sp>
        <p:nvSpPr>
          <p:cNvPr id="5" name="Pentagon 1">
            <a:extLst>
              <a:ext uri="{FF2B5EF4-FFF2-40B4-BE49-F238E27FC236}">
                <a16:creationId xmlns:a16="http://schemas.microsoft.com/office/drawing/2014/main" id="{A4E26CBC-4292-9A84-221B-7917931F929E}"/>
              </a:ext>
            </a:extLst>
          </p:cNvPr>
          <p:cNvSpPr/>
          <p:nvPr/>
        </p:nvSpPr>
        <p:spPr>
          <a:xfrm rot="10800000">
            <a:off x="5372101" y="2263379"/>
            <a:ext cx="3562350" cy="592530"/>
          </a:xfrm>
          <a:prstGeom prst="homePlate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E0AF9841-9893-EEFA-5355-690630E89110}"/>
              </a:ext>
            </a:extLst>
          </p:cNvPr>
          <p:cNvSpPr txBox="1"/>
          <p:nvPr/>
        </p:nvSpPr>
        <p:spPr>
          <a:xfrm>
            <a:off x="5867403" y="2267256"/>
            <a:ext cx="320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1600" dirty="0">
                <a:solidFill>
                  <a:schemeClr val="bg1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Protects revenue and ensures operational continuity</a:t>
            </a:r>
          </a:p>
        </p:txBody>
      </p:sp>
      <p:sp>
        <p:nvSpPr>
          <p:cNvPr id="9" name="Pentagon 1">
            <a:extLst>
              <a:ext uri="{FF2B5EF4-FFF2-40B4-BE49-F238E27FC236}">
                <a16:creationId xmlns:a16="http://schemas.microsoft.com/office/drawing/2014/main" id="{06DF2186-0856-C0AA-3424-502470E020B1}"/>
              </a:ext>
            </a:extLst>
          </p:cNvPr>
          <p:cNvSpPr/>
          <p:nvPr/>
        </p:nvSpPr>
        <p:spPr>
          <a:xfrm rot="10800000">
            <a:off x="5372101" y="3234411"/>
            <a:ext cx="3562350" cy="592530"/>
          </a:xfrm>
          <a:prstGeom prst="homePlat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0" name="TextBox 26">
            <a:extLst>
              <a:ext uri="{FF2B5EF4-FFF2-40B4-BE49-F238E27FC236}">
                <a16:creationId xmlns:a16="http://schemas.microsoft.com/office/drawing/2014/main" id="{207DE420-E700-111B-2978-06366B614D3B}"/>
              </a:ext>
            </a:extLst>
          </p:cNvPr>
          <p:cNvSpPr txBox="1"/>
          <p:nvPr/>
        </p:nvSpPr>
        <p:spPr>
          <a:xfrm>
            <a:off x="5867403" y="3238288"/>
            <a:ext cx="320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1600" dirty="0">
                <a:solidFill>
                  <a:schemeClr val="bg1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Enables reliable analytics and scalable AI adoption</a:t>
            </a:r>
            <a:endParaRPr lang="en-US" sz="1600" dirty="0">
              <a:solidFill>
                <a:schemeClr val="bg1"/>
              </a:solidFill>
              <a:latin typeface="Helios" panose="020B0604020202020204" charset="0"/>
              <a:ea typeface="Lato Semibold" panose="020F0502020204030203" pitchFamily="34" charset="0"/>
              <a:cs typeface="Poppins SemiBold" pitchFamily="2" charset="77"/>
            </a:endParaRPr>
          </a:p>
        </p:txBody>
      </p:sp>
      <p:sp>
        <p:nvSpPr>
          <p:cNvPr id="14" name="Pentagon 1">
            <a:extLst>
              <a:ext uri="{FF2B5EF4-FFF2-40B4-BE49-F238E27FC236}">
                <a16:creationId xmlns:a16="http://schemas.microsoft.com/office/drawing/2014/main" id="{EE8DD8E6-B87D-11BB-C871-C2FF3F28ADAA}"/>
              </a:ext>
            </a:extLst>
          </p:cNvPr>
          <p:cNvSpPr/>
          <p:nvPr/>
        </p:nvSpPr>
        <p:spPr>
          <a:xfrm rot="10800000">
            <a:off x="5372101" y="4205443"/>
            <a:ext cx="3562350" cy="592530"/>
          </a:xfrm>
          <a:prstGeom prst="homePlate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0E2DFCE0-A3C1-2D92-4779-2A8C4CB66145}"/>
              </a:ext>
            </a:extLst>
          </p:cNvPr>
          <p:cNvSpPr txBox="1"/>
          <p:nvPr/>
        </p:nvSpPr>
        <p:spPr>
          <a:xfrm>
            <a:off x="5867403" y="4209320"/>
            <a:ext cx="320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1600" dirty="0">
                <a:solidFill>
                  <a:schemeClr val="bg1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Reduces integration risk and strengthens data trust</a:t>
            </a:r>
          </a:p>
        </p:txBody>
      </p:sp>
      <p:sp>
        <p:nvSpPr>
          <p:cNvPr id="16" name="Pentagon 1">
            <a:extLst>
              <a:ext uri="{FF2B5EF4-FFF2-40B4-BE49-F238E27FC236}">
                <a16:creationId xmlns:a16="http://schemas.microsoft.com/office/drawing/2014/main" id="{1E76D024-9B89-1679-E9B8-7B46799CF0F7}"/>
              </a:ext>
            </a:extLst>
          </p:cNvPr>
          <p:cNvSpPr/>
          <p:nvPr/>
        </p:nvSpPr>
        <p:spPr>
          <a:xfrm rot="10800000">
            <a:off x="5372101" y="5176474"/>
            <a:ext cx="3562350" cy="592530"/>
          </a:xfrm>
          <a:prstGeom prst="homePlate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7" name="TextBox 26">
            <a:extLst>
              <a:ext uri="{FF2B5EF4-FFF2-40B4-BE49-F238E27FC236}">
                <a16:creationId xmlns:a16="http://schemas.microsoft.com/office/drawing/2014/main" id="{FD8AF222-21BD-048A-0243-FD0790EC8190}"/>
              </a:ext>
            </a:extLst>
          </p:cNvPr>
          <p:cNvSpPr txBox="1"/>
          <p:nvPr/>
        </p:nvSpPr>
        <p:spPr>
          <a:xfrm>
            <a:off x="5867403" y="5180351"/>
            <a:ext cx="3200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en-US" sz="1600" dirty="0">
                <a:solidFill>
                  <a:schemeClr val="bg1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Improves cost predictability and long-term scalability</a:t>
            </a:r>
          </a:p>
        </p:txBody>
      </p:sp>
    </p:spTree>
    <p:extLst>
      <p:ext uri="{BB962C8B-B14F-4D97-AF65-F5344CB8AC3E}">
        <p14:creationId xmlns:p14="http://schemas.microsoft.com/office/powerpoint/2010/main" val="1084684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03A04-E307-0C6E-CBD4-6490F1E5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3193A2D-8956-6042-A587-C824F89BE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349FFD8-3815-2227-8BB3-AED0C0431C96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DB939961-5F9B-C893-9A3B-01884B9E9E65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4DB25CB1-78A5-0D64-7BEA-2237B5CB29FD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Mission-critical</a:t>
            </a:r>
            <a:r>
              <a:rPr lang="pl-PL" sz="4000" dirty="0">
                <a:solidFill>
                  <a:schemeClr val="bg1"/>
                </a:solidFill>
                <a:latin typeface="Helios Bold"/>
              </a:rPr>
              <a:t> </a:t>
            </a:r>
            <a:r>
              <a:rPr lang="pl-PL" sz="4000" dirty="0" err="1">
                <a:solidFill>
                  <a:schemeClr val="bg1"/>
                </a:solidFill>
                <a:latin typeface="Helios Bold"/>
              </a:rPr>
              <a:t>database</a:t>
            </a:r>
            <a:r>
              <a:rPr lang="en-US" sz="4000" dirty="0">
                <a:solidFill>
                  <a:schemeClr val="bg1"/>
                </a:solidFill>
                <a:latin typeface="Helios Bold"/>
              </a:rPr>
              <a:t> operations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E90DDD1C-C172-420A-AB5A-524EDAD4AC1E}"/>
              </a:ext>
            </a:extLst>
          </p:cNvPr>
          <p:cNvSpPr/>
          <p:nvPr/>
        </p:nvSpPr>
        <p:spPr>
          <a:xfrm>
            <a:off x="10601325" y="1520948"/>
            <a:ext cx="1238249" cy="417027"/>
          </a:xfrm>
          <a:custGeom>
            <a:avLst/>
            <a:gdLst/>
            <a:ahLst/>
            <a:cxnLst/>
            <a:rect l="l" t="t" r="r" b="b"/>
            <a:pathLst>
              <a:path w="4009548" h="1350366">
                <a:moveTo>
                  <a:pt x="0" y="0"/>
                </a:moveTo>
                <a:lnTo>
                  <a:pt x="4009547" y="0"/>
                </a:lnTo>
                <a:lnTo>
                  <a:pt x="4009547" y="1350366"/>
                </a:lnTo>
                <a:lnTo>
                  <a:pt x="0" y="1350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6739BCF4-4637-F9C3-42F4-EDA3D81AFC90}"/>
              </a:ext>
            </a:extLst>
          </p:cNvPr>
          <p:cNvGrpSpPr/>
          <p:nvPr/>
        </p:nvGrpSpPr>
        <p:grpSpPr>
          <a:xfrm>
            <a:off x="561606" y="2643326"/>
            <a:ext cx="3512586" cy="1903604"/>
            <a:chOff x="624175" y="2643326"/>
            <a:chExt cx="3512586" cy="190360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CC7FAE8-71A3-3263-41C9-7BCB2C3D388D}"/>
                </a:ext>
              </a:extLst>
            </p:cNvPr>
            <p:cNvSpPr txBox="1"/>
            <p:nvPr/>
          </p:nvSpPr>
          <p:spPr>
            <a:xfrm>
              <a:off x="624175" y="3103778"/>
              <a:ext cx="3512586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24/7 database and infrastructure operations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High-availability and failover architecture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Disaster recovery orchestration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Structured incident response management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Continuous performance optimization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0F7949-8D9C-795D-7866-F8D2F6EAB72C}"/>
                </a:ext>
              </a:extLst>
            </p:cNvPr>
            <p:cNvSpPr txBox="1"/>
            <p:nvPr/>
          </p:nvSpPr>
          <p:spPr>
            <a:xfrm>
              <a:off x="624175" y="2643326"/>
              <a:ext cx="2870700" cy="3280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Bef>
                  <a:spcPts val="0"/>
                </a:spcBef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What we deliver</a:t>
              </a: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5C5035A-8E0F-1D94-4477-F7972AC835EB}"/>
              </a:ext>
            </a:extLst>
          </p:cNvPr>
          <p:cNvGrpSpPr/>
          <p:nvPr/>
        </p:nvGrpSpPr>
        <p:grpSpPr>
          <a:xfrm>
            <a:off x="4392401" y="2643326"/>
            <a:ext cx="3226272" cy="2833744"/>
            <a:chOff x="4405043" y="3162860"/>
            <a:chExt cx="3226272" cy="283374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6D48ACA-EDBF-7E40-6F58-219492F1D422}"/>
                </a:ext>
              </a:extLst>
            </p:cNvPr>
            <p:cNvSpPr txBox="1"/>
            <p:nvPr/>
          </p:nvSpPr>
          <p:spPr>
            <a:xfrm>
              <a:off x="4405043" y="3162860"/>
              <a:ext cx="3226272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Proven operational performance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46289B-FC44-5B6B-6BE9-616F722190FA}"/>
                </a:ext>
              </a:extLst>
            </p:cNvPr>
            <p:cNvSpPr txBox="1"/>
            <p:nvPr/>
          </p:nvSpPr>
          <p:spPr>
            <a:xfrm>
              <a:off x="4405043" y="3814788"/>
              <a:ext cx="3226272" cy="2181816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8F28"/>
                </a:buClr>
                <a:defRPr/>
              </a:pP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4-minute 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critical incident response</a:t>
              </a:r>
            </a:p>
            <a:p>
              <a:pPr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8F28"/>
                </a:buClr>
                <a:defRPr/>
              </a:pP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99.98% 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operational uptime track record</a:t>
              </a:r>
            </a:p>
            <a:p>
              <a:pPr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8F28"/>
                </a:buClr>
                <a:defRPr/>
              </a:pP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5</a:t>
              </a:r>
              <a:r>
                <a:rPr lang="ru-RU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700+ 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incidents resolved</a:t>
              </a:r>
            </a:p>
            <a:p>
              <a:pPr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8F28"/>
                </a:buClr>
                <a:defRPr/>
              </a:pP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1</a:t>
              </a:r>
              <a:r>
                <a:rPr lang="ru-RU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700+ 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databases under management</a:t>
              </a:r>
            </a:p>
            <a:p>
              <a:pPr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8F28"/>
                </a:buClr>
                <a:defRPr/>
              </a:pP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8</a:t>
              </a:r>
              <a:r>
                <a:rPr lang="ru-RU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PB+ 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enterprise data supported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8F28"/>
                </a:buClr>
                <a:buFont typeface="Wingdings" panose="05000000000000000000" pitchFamily="2" charset="2"/>
                <a:buChar char="Ø"/>
                <a:defRPr/>
              </a:pPr>
              <a:endPara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endParaRP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CA595955-A7DC-A439-57D5-C3CC8C2BF775}"/>
              </a:ext>
            </a:extLst>
          </p:cNvPr>
          <p:cNvGrpSpPr/>
          <p:nvPr/>
        </p:nvGrpSpPr>
        <p:grpSpPr>
          <a:xfrm>
            <a:off x="7709338" y="2662044"/>
            <a:ext cx="4218406" cy="1884886"/>
            <a:chOff x="7631315" y="4467114"/>
            <a:chExt cx="4218406" cy="188488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63391F1-BC7A-62B4-80C1-930FF7D584FC}"/>
                </a:ext>
              </a:extLst>
            </p:cNvPr>
            <p:cNvSpPr txBox="1"/>
            <p:nvPr/>
          </p:nvSpPr>
          <p:spPr>
            <a:xfrm>
              <a:off x="7631315" y="44671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Business impact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9D060FF-D193-C64A-1270-F033802294E2}"/>
                </a:ext>
              </a:extLst>
            </p:cNvPr>
            <p:cNvSpPr txBox="1"/>
            <p:nvPr/>
          </p:nvSpPr>
          <p:spPr>
            <a:xfrm>
              <a:off x="7631315" y="4908848"/>
              <a:ext cx="4218406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Revenue protection through minimized downtime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Predictable SLA performance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Reduced operational volatility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Executive visibility into infrastructure risk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Resilience protects value before disruption occurs.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6D66DE3-DBAF-E465-0C2C-D4069163026E}"/>
              </a:ext>
            </a:extLst>
          </p:cNvPr>
          <p:cNvSpPr txBox="1"/>
          <p:nvPr/>
        </p:nvSpPr>
        <p:spPr>
          <a:xfrm>
            <a:off x="663905" y="1560107"/>
            <a:ext cx="76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When uptime drives revenue, resilience protects enterprise value</a:t>
            </a:r>
          </a:p>
        </p:txBody>
      </p:sp>
    </p:spTree>
    <p:extLst>
      <p:ext uri="{BB962C8B-B14F-4D97-AF65-F5344CB8AC3E}">
        <p14:creationId xmlns:p14="http://schemas.microsoft.com/office/powerpoint/2010/main" val="2862725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DB1B-F948-8D1F-0CA8-9DB96355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892F91E-B24D-7432-4D9A-B9C026DD6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E783FD2-2BFF-CA66-38C2-3A371BB15ED3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0D8572C6-57BD-89DE-B5C5-33C0D9E7F071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2DD91BE7-734F-F6EE-E53D-7C49F15DA43E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ru-RU" sz="4000" dirty="0">
                <a:solidFill>
                  <a:schemeClr val="bg1"/>
                </a:solidFill>
                <a:latin typeface="Helios Bold"/>
              </a:rPr>
              <a:t>С</a:t>
            </a:r>
            <a:r>
              <a:rPr lang="en-US" sz="4000" dirty="0" err="1">
                <a:solidFill>
                  <a:schemeClr val="bg1"/>
                </a:solidFill>
                <a:latin typeface="Helios Bold"/>
              </a:rPr>
              <a:t>ase</a:t>
            </a:r>
            <a:r>
              <a:rPr lang="en-US" sz="4000" dirty="0">
                <a:solidFill>
                  <a:schemeClr val="bg1"/>
                </a:solidFill>
                <a:latin typeface="Helios Bold"/>
              </a:rPr>
              <a:t> study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A0106-134B-B7F9-9EC9-D084604A8D51}"/>
              </a:ext>
            </a:extLst>
          </p:cNvPr>
          <p:cNvSpPr txBox="1"/>
          <p:nvPr/>
        </p:nvSpPr>
        <p:spPr>
          <a:xfrm>
            <a:off x="2686052" y="1982352"/>
            <a:ext cx="6524624" cy="612155"/>
          </a:xfrm>
          <a:prstGeom prst="rect">
            <a:avLst/>
          </a:prstGeom>
          <a:noFill/>
        </p:spPr>
        <p:txBody>
          <a:bodyPr wrap="square" lIns="90000">
            <a:spAutoFit/>
          </a:bodyPr>
          <a:lstStyle/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Regional enterprise operating 24/7 with ___ production databases and ___ PB of critical data.</a:t>
            </a:r>
          </a:p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Infrastructure instability exposed revenue and regulatory risk.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DDEBC7-387A-16CC-81BA-76BF2E080D2D}"/>
              </a:ext>
            </a:extLst>
          </p:cNvPr>
          <p:cNvSpPr txBox="1"/>
          <p:nvPr/>
        </p:nvSpPr>
        <p:spPr>
          <a:xfrm>
            <a:off x="755291" y="2067562"/>
            <a:ext cx="1930760" cy="32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defTabSz="45720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spc="68" dirty="0">
                <a:solidFill>
                  <a:srgbClr val="156082"/>
                </a:solidFill>
                <a:latin typeface="Helios" panose="020B0604020202020204" charset="0"/>
              </a:rPr>
              <a:t>Client Context</a:t>
            </a: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88DCF3C8-F83F-5766-1489-C496BB61782B}"/>
              </a:ext>
            </a:extLst>
          </p:cNvPr>
          <p:cNvGrpSpPr/>
          <p:nvPr/>
        </p:nvGrpSpPr>
        <p:grpSpPr>
          <a:xfrm>
            <a:off x="896725" y="2875002"/>
            <a:ext cx="4789699" cy="1909314"/>
            <a:chOff x="918892" y="2875002"/>
            <a:chExt cx="4789699" cy="190931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3F4458-7857-6B3F-167C-97EC6393D7E6}"/>
                </a:ext>
              </a:extLst>
            </p:cNvPr>
            <p:cNvSpPr txBox="1"/>
            <p:nvPr/>
          </p:nvSpPr>
          <p:spPr>
            <a:xfrm>
              <a:off x="918893" y="2875002"/>
              <a:ext cx="322627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Challenge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7AE07A-D6A6-E172-268A-D1892B6BA870}"/>
                </a:ext>
              </a:extLst>
            </p:cNvPr>
            <p:cNvSpPr txBox="1"/>
            <p:nvPr/>
          </p:nvSpPr>
          <p:spPr>
            <a:xfrm>
              <a:off x="918892" y="3341164"/>
              <a:ext cx="4789699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defTabSz="457200">
                <a:lnSpc>
                  <a:spcPct val="150000"/>
                </a:lnSpc>
                <a:buClr>
                  <a:srgbClr val="E97132"/>
                </a:buClr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</a:t>
              </a:r>
              <a:r>
                <a:rPr lang="en-US" sz="1200" dirty="0">
                  <a:solidFill>
                    <a:srgbClr val="999999"/>
                  </a:solidFill>
                  <a:highlight>
                    <a:srgbClr val="FFFF00"/>
                  </a:highlight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hours average downtime per month</a:t>
              </a:r>
            </a:p>
            <a:p>
              <a:pPr defTabSz="457200">
                <a:lnSpc>
                  <a:spcPct val="150000"/>
                </a:lnSpc>
                <a:buClr>
                  <a:srgbClr val="E97132"/>
                </a:buClr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MTTR: </a:t>
              </a:r>
              <a:r>
                <a:rPr lang="en-US" sz="1200" dirty="0">
                  <a:solidFill>
                    <a:srgbClr val="999999"/>
                  </a:solidFill>
                  <a:highlight>
                    <a:srgbClr val="FFFF00"/>
                  </a:highlight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</a:t>
              </a:r>
            </a:p>
            <a:p>
              <a:pPr defTabSz="457200">
                <a:lnSpc>
                  <a:spcPct val="150000"/>
                </a:lnSpc>
                <a:buClr>
                  <a:srgbClr val="E97132"/>
                </a:buClr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Uptime: </a:t>
              </a:r>
              <a:r>
                <a:rPr lang="en-US" sz="1200" dirty="0">
                  <a:solidFill>
                    <a:srgbClr val="999999"/>
                  </a:solidFill>
                  <a:highlight>
                    <a:srgbClr val="FFFF00"/>
                  </a:highlight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%</a:t>
              </a:r>
            </a:p>
            <a:p>
              <a:pPr defTabSz="457200">
                <a:lnSpc>
                  <a:spcPct val="150000"/>
                </a:lnSpc>
                <a:buClr>
                  <a:srgbClr val="E97132"/>
                </a:buClr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Estimated exposure: </a:t>
              </a:r>
              <a:r>
                <a:rPr lang="en-US" sz="1200" dirty="0">
                  <a:solidFill>
                    <a:srgbClr val="999999"/>
                  </a:solidFill>
                  <a:highlight>
                    <a:srgbClr val="FFFF00"/>
                  </a:highlight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$ 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per hour of outage</a:t>
              </a:r>
            </a:p>
            <a:p>
              <a:pPr defTabSz="457200">
                <a:lnSpc>
                  <a:spcPct val="150000"/>
                </a:lnSpc>
                <a:buClr>
                  <a:srgbClr val="E97132"/>
                </a:buClr>
                <a:defRPr/>
              </a:pPr>
              <a:endPara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endParaRP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A2268AD6-D33C-2E21-1686-32A549FDFB57}"/>
              </a:ext>
            </a:extLst>
          </p:cNvPr>
          <p:cNvGrpSpPr/>
          <p:nvPr/>
        </p:nvGrpSpPr>
        <p:grpSpPr>
          <a:xfrm>
            <a:off x="4742940" y="2920193"/>
            <a:ext cx="3106167" cy="1909315"/>
            <a:chOff x="4464892" y="3123814"/>
            <a:chExt cx="3106167" cy="190931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3809414-AE3F-4C87-725C-9594CA4DAB57}"/>
                </a:ext>
              </a:extLst>
            </p:cNvPr>
            <p:cNvSpPr txBox="1"/>
            <p:nvPr/>
          </p:nvSpPr>
          <p:spPr>
            <a:xfrm>
              <a:off x="4464892" y="31238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Our Intervention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DB8A9BD-252B-0CA1-80CB-543833AE79C9}"/>
                </a:ext>
              </a:extLst>
            </p:cNvPr>
            <p:cNvSpPr txBox="1"/>
            <p:nvPr/>
          </p:nvSpPr>
          <p:spPr>
            <a:xfrm>
              <a:off x="4464892" y="3589977"/>
              <a:ext cx="3106167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24/7 mission-critical database operations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High-availability &amp; failover architecture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Disaster recovery orchestration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Structured incident response discipline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Governance embedded into operations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B45B1FE-A39C-8174-65ED-68B221E22114}"/>
              </a:ext>
            </a:extLst>
          </p:cNvPr>
          <p:cNvSpPr txBox="1"/>
          <p:nvPr/>
        </p:nvSpPr>
        <p:spPr>
          <a:xfrm>
            <a:off x="663905" y="1560107"/>
            <a:ext cx="76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pc="68" dirty="0">
                <a:solidFill>
                  <a:srgbClr val="E97132"/>
                </a:solidFill>
                <a:latin typeface="Helios" panose="020B0604020202020204" charset="0"/>
              </a:rPr>
              <a:t>Mission-Critical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d</a:t>
            </a:r>
            <a:r>
              <a:rPr lang="az-Latn-AZ" spc="68" dirty="0">
                <a:solidFill>
                  <a:srgbClr val="E97132"/>
                </a:solidFill>
                <a:latin typeface="Helios" panose="020B0604020202020204" charset="0"/>
              </a:rPr>
              <a:t>atabase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o</a:t>
            </a:r>
            <a:r>
              <a:rPr lang="az-Latn-AZ" spc="68" dirty="0">
                <a:solidFill>
                  <a:srgbClr val="E97132"/>
                </a:solidFill>
                <a:latin typeface="Helios" panose="020B0604020202020204" charset="0"/>
              </a:rPr>
              <a:t>perations</a:t>
            </a:r>
            <a:endParaRPr lang="en-US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42F78-3291-25CB-17F9-22A3B94632D2}"/>
              </a:ext>
            </a:extLst>
          </p:cNvPr>
          <p:cNvSpPr txBox="1"/>
          <p:nvPr/>
        </p:nvSpPr>
        <p:spPr>
          <a:xfrm>
            <a:off x="896726" y="4663910"/>
            <a:ext cx="3570500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Operational volatility impacting revenue protection and SLA confidence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0D10ABED-7888-6D58-FEBC-A3C31113AA02}"/>
              </a:ext>
            </a:extLst>
          </p:cNvPr>
          <p:cNvGrpSpPr/>
          <p:nvPr/>
        </p:nvGrpSpPr>
        <p:grpSpPr>
          <a:xfrm>
            <a:off x="8410065" y="2875001"/>
            <a:ext cx="3106167" cy="1990170"/>
            <a:chOff x="4464892" y="3123814"/>
            <a:chExt cx="3106167" cy="19901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59CB1D-28CB-7415-87FB-F0E320027C1D}"/>
                </a:ext>
              </a:extLst>
            </p:cNvPr>
            <p:cNvSpPr txBox="1"/>
            <p:nvPr/>
          </p:nvSpPr>
          <p:spPr>
            <a:xfrm>
              <a:off x="4464892" y="31238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E97132"/>
                  </a:solidFill>
                  <a:latin typeface="Helios" panose="020B0604020202020204" charset="0"/>
                </a:rPr>
                <a:t>Measurable Impact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8D569A-2DD6-9571-DE2F-E1AC622F3918}"/>
                </a:ext>
              </a:extLst>
            </p:cNvPr>
            <p:cNvSpPr txBox="1"/>
            <p:nvPr/>
          </p:nvSpPr>
          <p:spPr>
            <a:xfrm>
              <a:off x="4464892" y="3589977"/>
              <a:ext cx="3106167" cy="1524007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Downtime reduced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___%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MTTR improved from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 to ___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Uptime increased to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%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$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annual financial exposure reduced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C75EA7B-4291-67D6-69DA-BD394437FFC6}"/>
              </a:ext>
            </a:extLst>
          </p:cNvPr>
          <p:cNvSpPr txBox="1"/>
          <p:nvPr/>
        </p:nvSpPr>
        <p:spPr>
          <a:xfrm>
            <a:off x="3059643" y="5576165"/>
            <a:ext cx="6344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Operational stability transformed from technical function</a:t>
            </a:r>
          </a:p>
          <a:p>
            <a:pPr algn="ctr">
              <a:buNone/>
            </a:pP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into a controlled financial risk model</a:t>
            </a:r>
          </a:p>
        </p:txBody>
      </p:sp>
    </p:spTree>
    <p:extLst>
      <p:ext uri="{BB962C8B-B14F-4D97-AF65-F5344CB8AC3E}">
        <p14:creationId xmlns:p14="http://schemas.microsoft.com/office/powerpoint/2010/main" val="1921690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9C021-B014-A9D6-5F56-2E8F9F88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53A0E6-3F09-7707-AE3B-06E713ADB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1AA033-0AC2-3DE1-7BC4-9EDBF8F8FDDE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2D082D7B-75BE-CF98-DC57-336D68D51B57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19BACC5B-7DB5-4DAD-A667-E11B2E54BE31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AI-ready data platforms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62720E22-278A-1DDD-8F6F-F15BB664B6D9}"/>
              </a:ext>
            </a:extLst>
          </p:cNvPr>
          <p:cNvGrpSpPr/>
          <p:nvPr/>
        </p:nvGrpSpPr>
        <p:grpSpPr>
          <a:xfrm>
            <a:off x="561606" y="2643326"/>
            <a:ext cx="3512586" cy="2457602"/>
            <a:chOff x="624175" y="2643326"/>
            <a:chExt cx="3512586" cy="245760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BCEBA3-E091-78F0-BADD-C3512011C05B}"/>
                </a:ext>
              </a:extLst>
            </p:cNvPr>
            <p:cNvSpPr txBox="1"/>
            <p:nvPr/>
          </p:nvSpPr>
          <p:spPr>
            <a:xfrm>
              <a:off x="624175" y="3103778"/>
              <a:ext cx="3512586" cy="1997150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Unified data </a:t>
              </a:r>
              <a:r>
                <a:rPr lang="en-US" sz="1200" dirty="0" err="1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lakehouse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architecture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Hybrid cloud and on-premise deployment</a:t>
              </a:r>
              <a:endParaRPr lang="ru-RU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endParaRP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Structured and unstructured data integration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Scalable environments for analytics and machine learning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Architecture aligned with governance requirements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1FC5F3-08F0-EEE1-C758-A8D3C06658CE}"/>
                </a:ext>
              </a:extLst>
            </p:cNvPr>
            <p:cNvSpPr txBox="1"/>
            <p:nvPr/>
          </p:nvSpPr>
          <p:spPr>
            <a:xfrm>
              <a:off x="624175" y="2643326"/>
              <a:ext cx="2870700" cy="3280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Bef>
                  <a:spcPts val="0"/>
                </a:spcBef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What we deliver</a:t>
              </a: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6093A1A0-DBE4-FEF2-F4D8-C5E2CC23A97D}"/>
              </a:ext>
            </a:extLst>
          </p:cNvPr>
          <p:cNvGrpSpPr/>
          <p:nvPr/>
        </p:nvGrpSpPr>
        <p:grpSpPr>
          <a:xfrm>
            <a:off x="4378944" y="2676478"/>
            <a:ext cx="3226272" cy="1782088"/>
            <a:chOff x="4401111" y="2520498"/>
            <a:chExt cx="3226272" cy="178208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FEA743-08E3-72A6-A78F-8366A3B4E453}"/>
                </a:ext>
              </a:extLst>
            </p:cNvPr>
            <p:cNvSpPr txBox="1"/>
            <p:nvPr/>
          </p:nvSpPr>
          <p:spPr>
            <a:xfrm>
              <a:off x="4401111" y="2520498"/>
              <a:ext cx="322627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Why it matters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975EFAA-9837-F7B1-2B3C-4E1F760D62F3}"/>
                </a:ext>
              </a:extLst>
            </p:cNvPr>
            <p:cNvSpPr txBox="1"/>
            <p:nvPr/>
          </p:nvSpPr>
          <p:spPr>
            <a:xfrm>
              <a:off x="4401111" y="2859434"/>
              <a:ext cx="3226272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Accelerates AI deployment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Reduces architectural complexity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Eliminates siloed data environments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Improves analytics performance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Aligns data strategy with growth objectives</a:t>
              </a: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26A2EF92-7B42-C5E1-2938-A289A40428BF}"/>
              </a:ext>
            </a:extLst>
          </p:cNvPr>
          <p:cNvGrpSpPr/>
          <p:nvPr/>
        </p:nvGrpSpPr>
        <p:grpSpPr>
          <a:xfrm>
            <a:off x="7813057" y="2676478"/>
            <a:ext cx="4218406" cy="1607887"/>
            <a:chOff x="7631315" y="4467114"/>
            <a:chExt cx="4218406" cy="160788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BFD8E5-B0AB-9152-51F1-5CF521A1E283}"/>
                </a:ext>
              </a:extLst>
            </p:cNvPr>
            <p:cNvSpPr txBox="1"/>
            <p:nvPr/>
          </p:nvSpPr>
          <p:spPr>
            <a:xfrm>
              <a:off x="7631315" y="44671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Business impact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925F558-A346-F1C7-4DC4-40465A4A2095}"/>
                </a:ext>
              </a:extLst>
            </p:cNvPr>
            <p:cNvSpPr txBox="1"/>
            <p:nvPr/>
          </p:nvSpPr>
          <p:spPr>
            <a:xfrm>
              <a:off x="7631315" y="4908848"/>
              <a:ext cx="4218406" cy="1166153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Faster decision-making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Lower infrastructure duplication costs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Scalable AI transformation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Stronger executive control over data assets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9D39469-BFF0-0406-9A3B-BBCE94D7C26A}"/>
              </a:ext>
            </a:extLst>
          </p:cNvPr>
          <p:cNvSpPr txBox="1"/>
          <p:nvPr/>
        </p:nvSpPr>
        <p:spPr>
          <a:xfrm>
            <a:off x="663905" y="1560107"/>
            <a:ext cx="76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AI succeeds only on governed, scalable data foundations</a:t>
            </a:r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B81D7604-E7CF-BFBC-509B-3DC8F643B94F}"/>
              </a:ext>
            </a:extLst>
          </p:cNvPr>
          <p:cNvSpPr/>
          <p:nvPr/>
        </p:nvSpPr>
        <p:spPr>
          <a:xfrm>
            <a:off x="9944100" y="1593312"/>
            <a:ext cx="1583995" cy="531890"/>
          </a:xfrm>
          <a:custGeom>
            <a:avLst/>
            <a:gdLst/>
            <a:ahLst/>
            <a:cxnLst/>
            <a:rect l="l" t="t" r="r" b="b"/>
            <a:pathLst>
              <a:path w="4772225" h="1602465">
                <a:moveTo>
                  <a:pt x="0" y="0"/>
                </a:moveTo>
                <a:lnTo>
                  <a:pt x="4772225" y="0"/>
                </a:lnTo>
                <a:lnTo>
                  <a:pt x="4772225" y="1602465"/>
                </a:lnTo>
                <a:lnTo>
                  <a:pt x="0" y="16024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740" t="-60841" r="-92535" b="-53783"/>
            </a:stretch>
          </a:blip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388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D446-57F9-0063-8FB0-E94DFCE8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781D0B-2A91-8536-9879-31C2C3CFC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8CE09D-E8A8-EC50-B006-9C03AA1EA91D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246BEE3F-E50F-FD35-E863-5165AE21A06E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40036B04-A3E2-D467-735C-209115EC1DAE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ru-RU" sz="4000" dirty="0">
                <a:solidFill>
                  <a:schemeClr val="bg1"/>
                </a:solidFill>
                <a:latin typeface="Helios Bold"/>
              </a:rPr>
              <a:t>С</a:t>
            </a:r>
            <a:r>
              <a:rPr lang="en-US" sz="4000" dirty="0" err="1">
                <a:solidFill>
                  <a:schemeClr val="bg1"/>
                </a:solidFill>
                <a:latin typeface="Helios Bold"/>
              </a:rPr>
              <a:t>ase</a:t>
            </a:r>
            <a:r>
              <a:rPr lang="en-US" sz="4000" dirty="0">
                <a:solidFill>
                  <a:schemeClr val="bg1"/>
                </a:solidFill>
                <a:latin typeface="Helios Bold"/>
              </a:rPr>
              <a:t> study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4A90C-1561-A591-BF67-12EB5BE70858}"/>
              </a:ext>
            </a:extLst>
          </p:cNvPr>
          <p:cNvSpPr txBox="1"/>
          <p:nvPr/>
        </p:nvSpPr>
        <p:spPr>
          <a:xfrm>
            <a:off x="2590801" y="1982352"/>
            <a:ext cx="7762873" cy="612155"/>
          </a:xfrm>
          <a:prstGeom prst="rect">
            <a:avLst/>
          </a:prstGeom>
          <a:noFill/>
        </p:spPr>
        <p:txBody>
          <a:bodyPr wrap="square" lIns="90000">
            <a:spAutoFit/>
          </a:bodyPr>
          <a:lstStyle/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National enterprise with fragmented data landscape:</a:t>
            </a:r>
            <a:r>
              <a:rPr lang="ru-RU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 </a:t>
            </a: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12+ data sources</a:t>
            </a:r>
          </a:p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Separate BI, DWH and analytics environments</a:t>
            </a:r>
            <a:r>
              <a:rPr lang="ru-RU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; </a:t>
            </a: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On-prem + cloud infrastructure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2225D9-80FC-2401-966A-68F3A730DE8C}"/>
              </a:ext>
            </a:extLst>
          </p:cNvPr>
          <p:cNvSpPr txBox="1"/>
          <p:nvPr/>
        </p:nvSpPr>
        <p:spPr>
          <a:xfrm>
            <a:off x="660041" y="2067562"/>
            <a:ext cx="1930760" cy="32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defTabSz="45720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spc="68" dirty="0">
                <a:solidFill>
                  <a:srgbClr val="156082"/>
                </a:solidFill>
                <a:latin typeface="Helios" panose="020B0604020202020204" charset="0"/>
              </a:rPr>
              <a:t>Client Context</a:t>
            </a: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B54A3AA6-D4E1-D520-FA3A-7E23D7F50F84}"/>
              </a:ext>
            </a:extLst>
          </p:cNvPr>
          <p:cNvGrpSpPr/>
          <p:nvPr/>
        </p:nvGrpSpPr>
        <p:grpSpPr>
          <a:xfrm>
            <a:off x="677650" y="2875002"/>
            <a:ext cx="3332375" cy="1909314"/>
            <a:chOff x="918892" y="2875002"/>
            <a:chExt cx="3332375" cy="190931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CF9B5A5-2E4F-B262-6A73-4D7E5EAB3411}"/>
                </a:ext>
              </a:extLst>
            </p:cNvPr>
            <p:cNvSpPr txBox="1"/>
            <p:nvPr/>
          </p:nvSpPr>
          <p:spPr>
            <a:xfrm>
              <a:off x="918893" y="2875002"/>
              <a:ext cx="322627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Challenge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4E13DCA-73E7-D1CA-284B-BB1D0E5E2302}"/>
                </a:ext>
              </a:extLst>
            </p:cNvPr>
            <p:cNvSpPr txBox="1"/>
            <p:nvPr/>
          </p:nvSpPr>
          <p:spPr>
            <a:xfrm>
              <a:off x="918892" y="3341164"/>
              <a:ext cx="3332375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3–6 months to launch new analytics use cases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Inconsistent KPIs across departments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High infrastructure duplication cost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No unified governance model</a:t>
              </a: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6330D89A-8EE7-C946-8CCB-8019A62A2603}"/>
              </a:ext>
            </a:extLst>
          </p:cNvPr>
          <p:cNvGrpSpPr/>
          <p:nvPr/>
        </p:nvGrpSpPr>
        <p:grpSpPr>
          <a:xfrm>
            <a:off x="4218660" y="2937806"/>
            <a:ext cx="3525571" cy="2463313"/>
            <a:chOff x="4464892" y="3123814"/>
            <a:chExt cx="3525571" cy="246331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11CA5A4-D29B-9AC2-DADE-DE7B945267DD}"/>
                </a:ext>
              </a:extLst>
            </p:cNvPr>
            <p:cNvSpPr txBox="1"/>
            <p:nvPr/>
          </p:nvSpPr>
          <p:spPr>
            <a:xfrm>
              <a:off x="4464892" y="31238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Our Intervention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9D3A0AD-8CD6-35F2-949D-2653DA0179AD}"/>
                </a:ext>
              </a:extLst>
            </p:cNvPr>
            <p:cNvSpPr txBox="1"/>
            <p:nvPr/>
          </p:nvSpPr>
          <p:spPr>
            <a:xfrm>
              <a:off x="4464892" y="3589977"/>
              <a:ext cx="3525571" cy="1997150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Unified </a:t>
              </a:r>
              <a:r>
                <a:rPr lang="en-US" sz="1200" dirty="0" err="1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lakehouse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architecture implementation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Hybrid cloud + on-prem integration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Structured data ingestion (ETL / ELT automation)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Governance and lineage embedded by design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Scalable environment for analytics &amp; machine learning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CCBFB46-1B6A-0AB8-B0FB-B894C4F70B0D}"/>
              </a:ext>
            </a:extLst>
          </p:cNvPr>
          <p:cNvSpPr txBox="1"/>
          <p:nvPr/>
        </p:nvSpPr>
        <p:spPr>
          <a:xfrm>
            <a:off x="663905" y="1560107"/>
            <a:ext cx="76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z-Latn-AZ" spc="68" dirty="0">
                <a:solidFill>
                  <a:srgbClr val="E97132"/>
                </a:solidFill>
                <a:latin typeface="Helios" panose="020B0604020202020204" charset="0"/>
              </a:rPr>
              <a:t>AI-Ready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d</a:t>
            </a:r>
            <a:r>
              <a:rPr lang="az-Latn-AZ" spc="68" dirty="0">
                <a:solidFill>
                  <a:srgbClr val="E97132"/>
                </a:solidFill>
                <a:latin typeface="Helios" panose="020B0604020202020204" charset="0"/>
              </a:rPr>
              <a:t>ata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p</a:t>
            </a:r>
            <a:r>
              <a:rPr lang="az-Latn-AZ" spc="68" dirty="0">
                <a:solidFill>
                  <a:srgbClr val="E97132"/>
                </a:solidFill>
                <a:latin typeface="Helios" panose="020B0604020202020204" charset="0"/>
              </a:rPr>
              <a:t>latform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t</a:t>
            </a:r>
            <a:r>
              <a:rPr lang="az-Latn-AZ" spc="68" dirty="0">
                <a:solidFill>
                  <a:srgbClr val="E97132"/>
                </a:solidFill>
                <a:latin typeface="Helios" panose="020B0604020202020204" charset="0"/>
              </a:rPr>
              <a:t>ransformation</a:t>
            </a:r>
            <a:endParaRPr lang="en-US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AED8C-9275-A247-1CC8-66F80744ECBD}"/>
              </a:ext>
            </a:extLst>
          </p:cNvPr>
          <p:cNvSpPr txBox="1"/>
          <p:nvPr/>
        </p:nvSpPr>
        <p:spPr>
          <a:xfrm>
            <a:off x="677650" y="4909701"/>
            <a:ext cx="3570500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AI initiatives failing to move beyond pilot stage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F4D8E86C-689F-3471-7675-D8F8DE7F7CFF}"/>
              </a:ext>
            </a:extLst>
          </p:cNvPr>
          <p:cNvGrpSpPr/>
          <p:nvPr/>
        </p:nvGrpSpPr>
        <p:grpSpPr>
          <a:xfrm>
            <a:off x="7952865" y="2875001"/>
            <a:ext cx="3829560" cy="2267169"/>
            <a:chOff x="4464892" y="3123814"/>
            <a:chExt cx="3829560" cy="226716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50AE36-8309-28ED-069A-566AE6A56CE0}"/>
                </a:ext>
              </a:extLst>
            </p:cNvPr>
            <p:cNvSpPr txBox="1"/>
            <p:nvPr/>
          </p:nvSpPr>
          <p:spPr>
            <a:xfrm>
              <a:off x="4464892" y="31238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E97132"/>
                  </a:solidFill>
                  <a:latin typeface="Helios" panose="020B0604020202020204" charset="0"/>
                </a:rPr>
                <a:t>Measurable Impact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367767-4B97-FE4E-B9F9-7C834EAA589F}"/>
                </a:ext>
              </a:extLst>
            </p:cNvPr>
            <p:cNvSpPr txBox="1"/>
            <p:nvPr/>
          </p:nvSpPr>
          <p:spPr>
            <a:xfrm>
              <a:off x="4464892" y="3589977"/>
              <a:ext cx="3829560" cy="1801006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Analytics delivery time reduced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___%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Infrastructure duplication reduced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___%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AI use cases moved from pilot to production in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 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months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Data processing performance improved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___%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EF638FE-9D96-4822-FDDF-424BACA57F30}"/>
              </a:ext>
            </a:extLst>
          </p:cNvPr>
          <p:cNvSpPr txBox="1"/>
          <p:nvPr/>
        </p:nvSpPr>
        <p:spPr>
          <a:xfrm>
            <a:off x="2806975" y="5715843"/>
            <a:ext cx="7189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Data platform transformed from fragmented infrastructure</a:t>
            </a:r>
          </a:p>
          <a:p>
            <a:pPr algn="ctr">
              <a:buNone/>
            </a:pP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into a scalable AI foundation aligned with business growth</a:t>
            </a:r>
          </a:p>
        </p:txBody>
      </p:sp>
    </p:spTree>
    <p:extLst>
      <p:ext uri="{BB962C8B-B14F-4D97-AF65-F5344CB8AC3E}">
        <p14:creationId xmlns:p14="http://schemas.microsoft.com/office/powerpoint/2010/main" val="433698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0802-D39F-5D8D-D79C-B6F5476A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8C8B8A6-1FBA-D1E6-9811-1AEBD6971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DB9D7D4-CBF9-C283-D9B9-6D44615D5308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727E16B6-BA8A-58F3-CB02-45DEBE546FBB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EEA50339-8B0D-7914-D960-3B360A407571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Automated data engineering &amp; governance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20AA4343-597D-98CB-DF68-743A134BED94}"/>
              </a:ext>
            </a:extLst>
          </p:cNvPr>
          <p:cNvGrpSpPr/>
          <p:nvPr/>
        </p:nvGrpSpPr>
        <p:grpSpPr>
          <a:xfrm>
            <a:off x="561606" y="2643326"/>
            <a:ext cx="3512586" cy="2457602"/>
            <a:chOff x="624175" y="2643326"/>
            <a:chExt cx="3512586" cy="245760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241775-32B7-B974-B2B3-89719B4E0790}"/>
                </a:ext>
              </a:extLst>
            </p:cNvPr>
            <p:cNvSpPr txBox="1"/>
            <p:nvPr/>
          </p:nvSpPr>
          <p:spPr>
            <a:xfrm>
              <a:off x="624175" y="3103778"/>
              <a:ext cx="3512586" cy="1997150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Structured and versioned ETL / ELT architecture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Automated pipeline orchestration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Deterministic data transformations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Schema evolution control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Data validation and monitoring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End-to-end data lineage tracking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13CAB9-35A0-E903-33F6-1EB12CF0C207}"/>
                </a:ext>
              </a:extLst>
            </p:cNvPr>
            <p:cNvSpPr txBox="1"/>
            <p:nvPr/>
          </p:nvSpPr>
          <p:spPr>
            <a:xfrm>
              <a:off x="624175" y="2643326"/>
              <a:ext cx="2870700" cy="3280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Bef>
                  <a:spcPts val="0"/>
                </a:spcBef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What we deliver</a:t>
              </a: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BF9D888-215F-0D76-2EBB-DC1E978B4861}"/>
              </a:ext>
            </a:extLst>
          </p:cNvPr>
          <p:cNvGrpSpPr/>
          <p:nvPr/>
        </p:nvGrpSpPr>
        <p:grpSpPr>
          <a:xfrm>
            <a:off x="4287626" y="2643326"/>
            <a:ext cx="3226272" cy="1782088"/>
            <a:chOff x="4405043" y="3162860"/>
            <a:chExt cx="3226272" cy="1782088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263EE2D-CAA7-1E1E-96BE-D84954983FB5}"/>
                </a:ext>
              </a:extLst>
            </p:cNvPr>
            <p:cNvSpPr txBox="1"/>
            <p:nvPr/>
          </p:nvSpPr>
          <p:spPr>
            <a:xfrm>
              <a:off x="4405043" y="3162860"/>
              <a:ext cx="322627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Why it matters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CE68FB-4ABE-0276-7EC8-7C9CFEE4457F}"/>
                </a:ext>
              </a:extLst>
            </p:cNvPr>
            <p:cNvSpPr txBox="1"/>
            <p:nvPr/>
          </p:nvSpPr>
          <p:spPr>
            <a:xfrm>
              <a:off x="4405043" y="3501796"/>
              <a:ext cx="3226272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Eliminates manual integration errors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Improves trust in BI and AI outputs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Reduces compliance and audit exposure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Enables scalable data growth without chaos</a:t>
              </a: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F189012F-177B-881F-4EB4-18C77ED2CAA7}"/>
              </a:ext>
            </a:extLst>
          </p:cNvPr>
          <p:cNvGrpSpPr/>
          <p:nvPr/>
        </p:nvGrpSpPr>
        <p:grpSpPr>
          <a:xfrm>
            <a:off x="7841545" y="2643326"/>
            <a:ext cx="2902655" cy="1607887"/>
            <a:chOff x="7631315" y="4467114"/>
            <a:chExt cx="2902655" cy="160788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8F1AD1A-37C7-D1C5-64C7-0AF7B95F103D}"/>
                </a:ext>
              </a:extLst>
            </p:cNvPr>
            <p:cNvSpPr txBox="1"/>
            <p:nvPr/>
          </p:nvSpPr>
          <p:spPr>
            <a:xfrm>
              <a:off x="7631315" y="44671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Business impact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B1EA66-1840-EB65-9B58-34FA4AD11D91}"/>
                </a:ext>
              </a:extLst>
            </p:cNvPr>
            <p:cNvSpPr txBox="1"/>
            <p:nvPr/>
          </p:nvSpPr>
          <p:spPr>
            <a:xfrm>
              <a:off x="7631315" y="4908848"/>
              <a:ext cx="2902655" cy="1166153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Consistent data across departments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Faster analytics deployment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Reduced operational risk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Stronger regulatory confidence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ACAAA228-B032-1DEB-988C-4D2132D3F927}"/>
              </a:ext>
            </a:extLst>
          </p:cNvPr>
          <p:cNvSpPr txBox="1"/>
          <p:nvPr/>
        </p:nvSpPr>
        <p:spPr>
          <a:xfrm>
            <a:off x="663905" y="1560107"/>
            <a:ext cx="76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When uptime drives revenue, resilience protects enterprise value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BBFC373-296A-4710-9AD1-EF2E4583128C}"/>
              </a:ext>
            </a:extLst>
          </p:cNvPr>
          <p:cNvSpPr/>
          <p:nvPr/>
        </p:nvSpPr>
        <p:spPr>
          <a:xfrm>
            <a:off x="8770374" y="1809183"/>
            <a:ext cx="932561" cy="360261"/>
          </a:xfrm>
          <a:custGeom>
            <a:avLst/>
            <a:gdLst/>
            <a:ahLst/>
            <a:cxnLst/>
            <a:rect l="l" t="t" r="r" b="b"/>
            <a:pathLst>
              <a:path w="4012483" h="1550076">
                <a:moveTo>
                  <a:pt x="0" y="0"/>
                </a:moveTo>
                <a:lnTo>
                  <a:pt x="4012483" y="0"/>
                </a:lnTo>
                <a:lnTo>
                  <a:pt x="4012483" y="1550076"/>
                </a:lnTo>
                <a:lnTo>
                  <a:pt x="0" y="1550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9A96A33-DF2E-8011-4AA7-55495FFFA489}"/>
              </a:ext>
            </a:extLst>
          </p:cNvPr>
          <p:cNvSpPr/>
          <p:nvPr/>
        </p:nvSpPr>
        <p:spPr>
          <a:xfrm>
            <a:off x="9950748" y="1723634"/>
            <a:ext cx="1014518" cy="550301"/>
          </a:xfrm>
          <a:custGeom>
            <a:avLst/>
            <a:gdLst/>
            <a:ahLst/>
            <a:cxnLst/>
            <a:rect l="l" t="t" r="r" b="b"/>
            <a:pathLst>
              <a:path w="4012483" h="2006241">
                <a:moveTo>
                  <a:pt x="0" y="0"/>
                </a:moveTo>
                <a:lnTo>
                  <a:pt x="4012483" y="0"/>
                </a:lnTo>
                <a:lnTo>
                  <a:pt x="4012483" y="2006241"/>
                </a:lnTo>
                <a:lnTo>
                  <a:pt x="0" y="2006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95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15883-B608-BF17-E3D5-CB53EB86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3C6AC3D-7F2E-B107-3D37-FFCAB37A1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53CF1F3-DCCE-32E4-D4FE-54CBE010E301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B401695A-851F-4829-549D-F1ACE255483C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B8C67DA8-F099-BF47-3380-C2F0297A63CA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ru-RU" sz="4000" dirty="0">
                <a:solidFill>
                  <a:schemeClr val="bg1"/>
                </a:solidFill>
                <a:latin typeface="Helios Bold"/>
              </a:rPr>
              <a:t>С</a:t>
            </a:r>
            <a:r>
              <a:rPr lang="en-US" sz="4000" dirty="0" err="1">
                <a:solidFill>
                  <a:schemeClr val="bg1"/>
                </a:solidFill>
                <a:latin typeface="Helios Bold"/>
              </a:rPr>
              <a:t>ase</a:t>
            </a:r>
            <a:r>
              <a:rPr lang="en-US" sz="4000" dirty="0">
                <a:solidFill>
                  <a:schemeClr val="bg1"/>
                </a:solidFill>
                <a:latin typeface="Helios Bold"/>
              </a:rPr>
              <a:t> study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48DEC6-8C50-6F8D-8733-EFCED8E42125}"/>
              </a:ext>
            </a:extLst>
          </p:cNvPr>
          <p:cNvSpPr txBox="1"/>
          <p:nvPr/>
        </p:nvSpPr>
        <p:spPr>
          <a:xfrm>
            <a:off x="2686051" y="1982352"/>
            <a:ext cx="7762873" cy="612155"/>
          </a:xfrm>
          <a:prstGeom prst="rect">
            <a:avLst/>
          </a:prstGeom>
          <a:noFill/>
        </p:spPr>
        <p:txBody>
          <a:bodyPr wrap="square" lIns="90000">
            <a:spAutoFit/>
          </a:bodyPr>
          <a:lstStyle/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National enterprise with fragmented data landscape:</a:t>
            </a:r>
            <a:r>
              <a:rPr lang="ru-RU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 </a:t>
            </a: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12+ data sources</a:t>
            </a:r>
          </a:p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Separate BI, DWH and analytics environments</a:t>
            </a:r>
            <a:r>
              <a:rPr lang="ru-RU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; </a:t>
            </a: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On-prem + cloud infrastructure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4B8FEF-2333-7347-21EF-D5BDD8C1EF3C}"/>
              </a:ext>
            </a:extLst>
          </p:cNvPr>
          <p:cNvSpPr txBox="1"/>
          <p:nvPr/>
        </p:nvSpPr>
        <p:spPr>
          <a:xfrm>
            <a:off x="755291" y="2067562"/>
            <a:ext cx="1930760" cy="32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defTabSz="45720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spc="68" dirty="0">
                <a:solidFill>
                  <a:srgbClr val="156082"/>
                </a:solidFill>
                <a:latin typeface="Helios" panose="020B0604020202020204" charset="0"/>
              </a:rPr>
              <a:t>Client Context</a:t>
            </a: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CC822E8E-0B89-526F-1B54-2E281A6695E8}"/>
              </a:ext>
            </a:extLst>
          </p:cNvPr>
          <p:cNvGrpSpPr/>
          <p:nvPr/>
        </p:nvGrpSpPr>
        <p:grpSpPr>
          <a:xfrm>
            <a:off x="677650" y="2875002"/>
            <a:ext cx="3332375" cy="2463312"/>
            <a:chOff x="918892" y="2875002"/>
            <a:chExt cx="3332375" cy="246331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C838BC9-10AE-A691-36B4-B7607470C3E4}"/>
                </a:ext>
              </a:extLst>
            </p:cNvPr>
            <p:cNvSpPr txBox="1"/>
            <p:nvPr/>
          </p:nvSpPr>
          <p:spPr>
            <a:xfrm>
              <a:off x="918893" y="2875002"/>
              <a:ext cx="322627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Challenge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8326A56-2190-2AA2-E984-980B2B27EA62}"/>
                </a:ext>
              </a:extLst>
            </p:cNvPr>
            <p:cNvSpPr txBox="1"/>
            <p:nvPr/>
          </p:nvSpPr>
          <p:spPr>
            <a:xfrm>
              <a:off x="918892" y="3341164"/>
              <a:ext cx="3332375" cy="1997150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 40% of analytics time spent on data reconciliation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Inconsistent KPIs across business units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Frequent manual pipeline failures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Limited audit traceability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Regulatory exposure due to weak data lineage</a:t>
              </a: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46FB6956-936E-51FF-A03C-C2C2A54DC4A6}"/>
              </a:ext>
            </a:extLst>
          </p:cNvPr>
          <p:cNvGrpSpPr/>
          <p:nvPr/>
        </p:nvGrpSpPr>
        <p:grpSpPr>
          <a:xfrm>
            <a:off x="4218660" y="2937806"/>
            <a:ext cx="3525571" cy="2463313"/>
            <a:chOff x="4464892" y="3123814"/>
            <a:chExt cx="3525571" cy="246331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768593F-D921-8969-FE0E-7BEEC27F233C}"/>
                </a:ext>
              </a:extLst>
            </p:cNvPr>
            <p:cNvSpPr txBox="1"/>
            <p:nvPr/>
          </p:nvSpPr>
          <p:spPr>
            <a:xfrm>
              <a:off x="4464892" y="31238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Our Intervention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182529-2B89-F372-67D4-592848EA46B7}"/>
                </a:ext>
              </a:extLst>
            </p:cNvPr>
            <p:cNvSpPr txBox="1"/>
            <p:nvPr/>
          </p:nvSpPr>
          <p:spPr>
            <a:xfrm>
              <a:off x="4464892" y="3589977"/>
              <a:ext cx="3525571" cy="1997150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Structured &amp; versioned ETL / ELT architecture (</a:t>
              </a:r>
              <a:r>
                <a:rPr lang="en-US" sz="1200" dirty="0" err="1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dbt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-based transformations)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Automated orchestration (Airflow pipelines)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Deterministic data modeling &amp; testing framework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End-to-end data validation and monitoring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Embedded governance &amp; lineage tracking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48BB00C-0407-91CD-0C0A-FD390C81CC21}"/>
              </a:ext>
            </a:extLst>
          </p:cNvPr>
          <p:cNvSpPr txBox="1"/>
          <p:nvPr/>
        </p:nvSpPr>
        <p:spPr>
          <a:xfrm>
            <a:off x="663905" y="1560107"/>
            <a:ext cx="76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Automated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d</a:t>
            </a:r>
            <a:r>
              <a:rPr lang="en-US" spc="68" dirty="0" err="1">
                <a:solidFill>
                  <a:srgbClr val="E97132"/>
                </a:solidFill>
                <a:latin typeface="Helios" panose="020B0604020202020204" charset="0"/>
              </a:rPr>
              <a:t>ata</a:t>
            </a: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e</a:t>
            </a:r>
            <a:r>
              <a:rPr lang="en-US" spc="68" dirty="0" err="1">
                <a:solidFill>
                  <a:srgbClr val="E97132"/>
                </a:solidFill>
                <a:latin typeface="Helios" panose="020B0604020202020204" charset="0"/>
              </a:rPr>
              <a:t>ngineering</a:t>
            </a: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 &amp;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g</a:t>
            </a:r>
            <a:r>
              <a:rPr lang="en-US" spc="68" dirty="0" err="1">
                <a:solidFill>
                  <a:srgbClr val="E97132"/>
                </a:solidFill>
                <a:latin typeface="Helios" panose="020B0604020202020204" charset="0"/>
              </a:rPr>
              <a:t>overnance</a:t>
            </a: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t</a:t>
            </a:r>
            <a:r>
              <a:rPr lang="en-US" spc="68" dirty="0" err="1">
                <a:solidFill>
                  <a:srgbClr val="E97132"/>
                </a:solidFill>
                <a:latin typeface="Helios" panose="020B0604020202020204" charset="0"/>
              </a:rPr>
              <a:t>ransformation</a:t>
            </a:r>
            <a:endParaRPr lang="en-US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36984-E036-D64E-1713-04F09EF2B620}"/>
              </a:ext>
            </a:extLst>
          </p:cNvPr>
          <p:cNvSpPr txBox="1"/>
          <p:nvPr/>
        </p:nvSpPr>
        <p:spPr>
          <a:xfrm>
            <a:off x="677650" y="5323525"/>
            <a:ext cx="3570500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Data environment lacked structure, control, and governance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E22B2511-F6A3-E18C-8AF1-6630AE0E8AA8}"/>
              </a:ext>
            </a:extLst>
          </p:cNvPr>
          <p:cNvGrpSpPr/>
          <p:nvPr/>
        </p:nvGrpSpPr>
        <p:grpSpPr>
          <a:xfrm>
            <a:off x="7952864" y="2875001"/>
            <a:ext cx="4086735" cy="2278647"/>
            <a:chOff x="4464891" y="3123814"/>
            <a:chExt cx="4086735" cy="227864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52F6E0-7941-41B0-0EA0-45255E7644C1}"/>
                </a:ext>
              </a:extLst>
            </p:cNvPr>
            <p:cNvSpPr txBox="1"/>
            <p:nvPr/>
          </p:nvSpPr>
          <p:spPr>
            <a:xfrm>
              <a:off x="4464892" y="31238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E97132"/>
                  </a:solidFill>
                  <a:latin typeface="Helios" panose="020B0604020202020204" charset="0"/>
                </a:rPr>
                <a:t>Measurable Impact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0441D1-CB53-6EFF-ABF6-9534C5B7D406}"/>
                </a:ext>
              </a:extLst>
            </p:cNvPr>
            <p:cNvSpPr txBox="1"/>
            <p:nvPr/>
          </p:nvSpPr>
          <p:spPr>
            <a:xfrm>
              <a:off x="4464891" y="3589977"/>
              <a:ext cx="4086735" cy="1812484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Manual data reconciliation reduced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60%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Analytics deployment cycle shortened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45%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Data inconsistencies reduced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70%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Audit traceability improved to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100% </a:t>
              </a: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lineage coverage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Operational risk exposure significantly reduced</a:t>
              </a:r>
              <a:endParaRPr lang="en-US" sz="1600" dirty="0">
                <a:solidFill>
                  <a:srgbClr val="E97132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BE7D399-5BB2-C8B2-D049-3E71AF0D673A}"/>
              </a:ext>
            </a:extLst>
          </p:cNvPr>
          <p:cNvSpPr txBox="1"/>
          <p:nvPr/>
        </p:nvSpPr>
        <p:spPr>
          <a:xfrm>
            <a:off x="2835550" y="5872875"/>
            <a:ext cx="7189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Data transformed from a fragmented operational burden</a:t>
            </a:r>
          </a:p>
          <a:p>
            <a:pPr algn="ctr">
              <a:buNone/>
            </a:pP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into a controlled, trusted enterprise asset.</a:t>
            </a:r>
          </a:p>
        </p:txBody>
      </p:sp>
    </p:spTree>
    <p:extLst>
      <p:ext uri="{BB962C8B-B14F-4D97-AF65-F5344CB8AC3E}">
        <p14:creationId xmlns:p14="http://schemas.microsoft.com/office/powerpoint/2010/main" val="2818245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587C3-E1ED-F70D-13FF-3BC5AD3F1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1EA2B4A-E764-6FF4-E623-BA320C222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45E928-E0BC-D909-D46A-1AA9D2BC717A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93253F57-421F-9CDF-4886-C8EBCEC8116A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7101A434-A4AF-64EA-BB1D-573AB4755DB6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Cost-efficient modernization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4E33EE3-6EF7-E816-4AF5-8850EC06EEA5}"/>
              </a:ext>
            </a:extLst>
          </p:cNvPr>
          <p:cNvGrpSpPr/>
          <p:nvPr/>
        </p:nvGrpSpPr>
        <p:grpSpPr>
          <a:xfrm>
            <a:off x="561606" y="2592476"/>
            <a:ext cx="3512586" cy="2180603"/>
            <a:chOff x="624175" y="2643326"/>
            <a:chExt cx="3512586" cy="218060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5899B40-A9C5-030C-6891-9970FD054F4B}"/>
                </a:ext>
              </a:extLst>
            </p:cNvPr>
            <p:cNvSpPr txBox="1"/>
            <p:nvPr/>
          </p:nvSpPr>
          <p:spPr>
            <a:xfrm>
              <a:off x="624175" y="3103778"/>
              <a:ext cx="3512586" cy="1720151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Migration to open-source and cost-efficient data platforms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Zero-downtime upgrade strategies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Infrastructure performance optimization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Architecture redesign for scalability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Vendor lock-in reduction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D9A132B-91D7-7791-57C2-D9A7D90E29F0}"/>
                </a:ext>
              </a:extLst>
            </p:cNvPr>
            <p:cNvSpPr txBox="1"/>
            <p:nvPr/>
          </p:nvSpPr>
          <p:spPr>
            <a:xfrm>
              <a:off x="624175" y="2643326"/>
              <a:ext cx="2870700" cy="3280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Bef>
                  <a:spcPts val="0"/>
                </a:spcBef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What we deliver</a:t>
              </a: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6FD54297-41FC-1197-62ED-AE6368640722}"/>
              </a:ext>
            </a:extLst>
          </p:cNvPr>
          <p:cNvGrpSpPr/>
          <p:nvPr/>
        </p:nvGrpSpPr>
        <p:grpSpPr>
          <a:xfrm>
            <a:off x="4274169" y="2592476"/>
            <a:ext cx="3226272" cy="2336086"/>
            <a:chOff x="4296336" y="2436496"/>
            <a:chExt cx="3226272" cy="233608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020243-80BA-A764-3D2F-5AF4B3E37C0F}"/>
                </a:ext>
              </a:extLst>
            </p:cNvPr>
            <p:cNvSpPr txBox="1"/>
            <p:nvPr/>
          </p:nvSpPr>
          <p:spPr>
            <a:xfrm>
              <a:off x="4296336" y="2436496"/>
              <a:ext cx="322627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Why it matters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DA7D905-DBE1-6B5B-3C79-CF6594F45133}"/>
                </a:ext>
              </a:extLst>
            </p:cNvPr>
            <p:cNvSpPr txBox="1"/>
            <p:nvPr/>
          </p:nvSpPr>
          <p:spPr>
            <a:xfrm>
              <a:off x="4296336" y="2775432"/>
              <a:ext cx="3226272" cy="1997150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Reduces licensing and infrastructure expenses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Improves cost transparency and predictability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Enables scalable growth without exponential cost increase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Aligns IT strategy with financial planning</a:t>
              </a: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9D9CF1A4-53CE-339F-2EF7-0F7B95EE74C3}"/>
              </a:ext>
            </a:extLst>
          </p:cNvPr>
          <p:cNvGrpSpPr/>
          <p:nvPr/>
        </p:nvGrpSpPr>
        <p:grpSpPr>
          <a:xfrm>
            <a:off x="7500441" y="2592476"/>
            <a:ext cx="4218406" cy="1607887"/>
            <a:chOff x="7213924" y="2633152"/>
            <a:chExt cx="4218406" cy="160788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D9E20E6-1E1B-8BE9-0A18-AB663751C229}"/>
                </a:ext>
              </a:extLst>
            </p:cNvPr>
            <p:cNvSpPr txBox="1"/>
            <p:nvPr/>
          </p:nvSpPr>
          <p:spPr>
            <a:xfrm>
              <a:off x="7213924" y="2633152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Business impact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C644CA9-3D47-A22A-119F-EBFC3C76E912}"/>
                </a:ext>
              </a:extLst>
            </p:cNvPr>
            <p:cNvSpPr txBox="1"/>
            <p:nvPr/>
          </p:nvSpPr>
          <p:spPr>
            <a:xfrm>
              <a:off x="7213924" y="3074886"/>
              <a:ext cx="4218406" cy="1166153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Lower long-term operational expenditure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Improved ROI on data infrastructure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Sustainable scalability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Increased financial control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6CD4424-6169-9AF6-95AF-F389039206DC}"/>
              </a:ext>
            </a:extLst>
          </p:cNvPr>
          <p:cNvSpPr txBox="1"/>
          <p:nvPr/>
        </p:nvSpPr>
        <p:spPr>
          <a:xfrm>
            <a:off x="663905" y="1560107"/>
            <a:ext cx="76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Modern infrastructure reduces cost, risk, and vendor dependency</a:t>
            </a:r>
          </a:p>
        </p:txBody>
      </p:sp>
    </p:spTree>
    <p:extLst>
      <p:ext uri="{BB962C8B-B14F-4D97-AF65-F5344CB8AC3E}">
        <p14:creationId xmlns:p14="http://schemas.microsoft.com/office/powerpoint/2010/main" val="386016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DEEB1-0464-4255-95FB-899F92A23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150B7A6-9AE4-8E99-4493-77D3DEE54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53B46E3-9423-C22C-B1E8-DFC2B57180D3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193B1231-DADD-3EC4-2EEF-A1EC7AD122D0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8CCDB880-ED1A-80AD-4B1A-B9D06E77D3C7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ru-RU" sz="4000" dirty="0">
                <a:solidFill>
                  <a:schemeClr val="bg1"/>
                </a:solidFill>
                <a:latin typeface="Helios Bold"/>
              </a:rPr>
              <a:t>С</a:t>
            </a:r>
            <a:r>
              <a:rPr lang="en-US" sz="4000" dirty="0" err="1">
                <a:solidFill>
                  <a:schemeClr val="bg1"/>
                </a:solidFill>
                <a:latin typeface="Helios Bold"/>
              </a:rPr>
              <a:t>ase</a:t>
            </a:r>
            <a:r>
              <a:rPr lang="en-US" sz="4000" dirty="0">
                <a:solidFill>
                  <a:schemeClr val="bg1"/>
                </a:solidFill>
                <a:latin typeface="Helios Bold"/>
              </a:rPr>
              <a:t> study</a:t>
            </a:r>
            <a:endParaRPr lang="en-US" sz="4000" dirty="0">
              <a:solidFill>
                <a:schemeClr val="bg1"/>
              </a:solidFill>
              <a:latin typeface="Helios Bold"/>
              <a:sym typeface="Helio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21BD3-D825-7BCF-8157-2383E5F911E1}"/>
              </a:ext>
            </a:extLst>
          </p:cNvPr>
          <p:cNvSpPr txBox="1"/>
          <p:nvPr/>
        </p:nvSpPr>
        <p:spPr>
          <a:xfrm>
            <a:off x="2686051" y="1982352"/>
            <a:ext cx="8867774" cy="612155"/>
          </a:xfrm>
          <a:prstGeom prst="rect">
            <a:avLst/>
          </a:prstGeom>
          <a:noFill/>
        </p:spPr>
        <p:txBody>
          <a:bodyPr wrap="square" lIns="90000">
            <a:spAutoFit/>
          </a:bodyPr>
          <a:lstStyle/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A large enterprise operating on legacy proprietary database platforms faced rising licensing costs, infrastructure inefficiencies, and growing vendor dependency.</a:t>
            </a:r>
            <a:r>
              <a:rPr lang="pl-PL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 </a:t>
            </a: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Limited scalability and unpredictable expenses constrained long-term financial planning.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D1478-DB7E-7109-E9E8-5EE47EF71CF6}"/>
              </a:ext>
            </a:extLst>
          </p:cNvPr>
          <p:cNvSpPr txBox="1"/>
          <p:nvPr/>
        </p:nvSpPr>
        <p:spPr>
          <a:xfrm>
            <a:off x="755291" y="2067562"/>
            <a:ext cx="1930760" cy="32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defTabSz="45720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spc="68" dirty="0">
                <a:solidFill>
                  <a:srgbClr val="156082"/>
                </a:solidFill>
                <a:latin typeface="Helios" panose="020B0604020202020204" charset="0"/>
              </a:rPr>
              <a:t>Client Context</a:t>
            </a:r>
          </a:p>
        </p:txBody>
      </p: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AA2494E5-8D8A-ECD7-5229-321B5B6048EE}"/>
              </a:ext>
            </a:extLst>
          </p:cNvPr>
          <p:cNvGrpSpPr/>
          <p:nvPr/>
        </p:nvGrpSpPr>
        <p:grpSpPr>
          <a:xfrm>
            <a:off x="677650" y="2875002"/>
            <a:ext cx="3332375" cy="2463312"/>
            <a:chOff x="918892" y="2875002"/>
            <a:chExt cx="3332375" cy="246331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B96DD61-18D8-BED4-429C-1070BFD94DCB}"/>
                </a:ext>
              </a:extLst>
            </p:cNvPr>
            <p:cNvSpPr txBox="1"/>
            <p:nvPr/>
          </p:nvSpPr>
          <p:spPr>
            <a:xfrm>
              <a:off x="918893" y="2875002"/>
              <a:ext cx="322627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Challenge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A829A5-D6EB-8E48-BC64-5FA71435814D}"/>
                </a:ext>
              </a:extLst>
            </p:cNvPr>
            <p:cNvSpPr txBox="1"/>
            <p:nvPr/>
          </p:nvSpPr>
          <p:spPr>
            <a:xfrm>
              <a:off x="918892" y="3341164"/>
              <a:ext cx="3332375" cy="1997150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Annual licensing and support costs exceeding </a:t>
              </a:r>
              <a:r>
                <a:rPr lang="en-US" sz="1200" dirty="0">
                  <a:solidFill>
                    <a:srgbClr val="999999"/>
                  </a:solidFill>
                  <a:highlight>
                    <a:srgbClr val="FFFF00"/>
                  </a:highlight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$___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Infrastructure underutilization and performance bottlenecks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Vendor lock-in limiting strategic flexibility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Upgrade cycles causing operational risk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Cost growth outpacing business growth</a:t>
              </a:r>
            </a:p>
          </p:txBody>
        </p:sp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939FF350-6830-D76C-E73A-5258C2FF7C64}"/>
              </a:ext>
            </a:extLst>
          </p:cNvPr>
          <p:cNvGrpSpPr/>
          <p:nvPr/>
        </p:nvGrpSpPr>
        <p:grpSpPr>
          <a:xfrm>
            <a:off x="4218660" y="2937806"/>
            <a:ext cx="3525571" cy="2186314"/>
            <a:chOff x="4464892" y="3123814"/>
            <a:chExt cx="3525571" cy="2186314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1EA21D0-E1B2-6D18-E72D-4BA333ED1AA2}"/>
                </a:ext>
              </a:extLst>
            </p:cNvPr>
            <p:cNvSpPr txBox="1"/>
            <p:nvPr/>
          </p:nvSpPr>
          <p:spPr>
            <a:xfrm>
              <a:off x="4464892" y="31238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Our Intervention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16FFC9-3483-0CE5-351A-6BBB41545B72}"/>
                </a:ext>
              </a:extLst>
            </p:cNvPr>
            <p:cNvSpPr txBox="1"/>
            <p:nvPr/>
          </p:nvSpPr>
          <p:spPr>
            <a:xfrm>
              <a:off x="4464892" y="3589977"/>
              <a:ext cx="3525571" cy="1720151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Migration to open and cost-efficient data platforms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Zero-downtime upgrade strategy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Infrastructure performance optimization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Architecture redesign for scalable growth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1">
                    <a:lumMod val="50000"/>
                    <a:lumOff val="5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Vendor lock-in reduction strategy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E05D421-521A-2A0A-5F45-A8D1E8C24C8A}"/>
              </a:ext>
            </a:extLst>
          </p:cNvPr>
          <p:cNvSpPr txBox="1"/>
          <p:nvPr/>
        </p:nvSpPr>
        <p:spPr>
          <a:xfrm>
            <a:off x="663905" y="1560107"/>
            <a:ext cx="76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Cost-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e</a:t>
            </a:r>
            <a:r>
              <a:rPr lang="en-US" spc="68" dirty="0" err="1">
                <a:solidFill>
                  <a:srgbClr val="E97132"/>
                </a:solidFill>
                <a:latin typeface="Helios" panose="020B0604020202020204" charset="0"/>
              </a:rPr>
              <a:t>fficient</a:t>
            </a: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i</a:t>
            </a:r>
            <a:r>
              <a:rPr lang="en-US" spc="68" dirty="0" err="1">
                <a:solidFill>
                  <a:srgbClr val="E97132"/>
                </a:solidFill>
                <a:latin typeface="Helios" panose="020B0604020202020204" charset="0"/>
              </a:rPr>
              <a:t>nfrastructure</a:t>
            </a: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 </a:t>
            </a:r>
            <a:r>
              <a:rPr lang="pl-PL" spc="68" dirty="0">
                <a:solidFill>
                  <a:srgbClr val="E97132"/>
                </a:solidFill>
                <a:latin typeface="Helios" panose="020B0604020202020204" charset="0"/>
              </a:rPr>
              <a:t>m</a:t>
            </a:r>
            <a:r>
              <a:rPr lang="en-US" spc="68" dirty="0" err="1">
                <a:solidFill>
                  <a:srgbClr val="E97132"/>
                </a:solidFill>
                <a:latin typeface="Helios" panose="020B0604020202020204" charset="0"/>
              </a:rPr>
              <a:t>odernization</a:t>
            </a:r>
            <a:endParaRPr lang="en-US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C1864-C811-7A18-D654-B92C1AB3E2AA}"/>
              </a:ext>
            </a:extLst>
          </p:cNvPr>
          <p:cNvSpPr txBox="1"/>
          <p:nvPr/>
        </p:nvSpPr>
        <p:spPr>
          <a:xfrm>
            <a:off x="663905" y="5362637"/>
            <a:ext cx="3570500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Technology spend lacked predictability and strategic alignment.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21CC770F-7D0C-F2E1-ACB0-589F3124E56B}"/>
              </a:ext>
            </a:extLst>
          </p:cNvPr>
          <p:cNvGrpSpPr/>
          <p:nvPr/>
        </p:nvGrpSpPr>
        <p:grpSpPr>
          <a:xfrm>
            <a:off x="7952865" y="2875001"/>
            <a:ext cx="3829560" cy="1909315"/>
            <a:chOff x="4464892" y="3123814"/>
            <a:chExt cx="3829560" cy="190931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24854D-3CBB-1A87-3FBA-95E2C415E715}"/>
                </a:ext>
              </a:extLst>
            </p:cNvPr>
            <p:cNvSpPr txBox="1"/>
            <p:nvPr/>
          </p:nvSpPr>
          <p:spPr>
            <a:xfrm>
              <a:off x="4464892" y="3123814"/>
              <a:ext cx="2787340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E97132"/>
                  </a:solidFill>
                  <a:latin typeface="Helios" panose="020B0604020202020204" charset="0"/>
                </a:rPr>
                <a:t>Measurable Impact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ECCAD4-DB53-AD0B-252C-BE0C26B29CF1}"/>
                </a:ext>
              </a:extLst>
            </p:cNvPr>
            <p:cNvSpPr txBox="1"/>
            <p:nvPr/>
          </p:nvSpPr>
          <p:spPr>
            <a:xfrm>
              <a:off x="4464892" y="3589977"/>
              <a:ext cx="3829560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Licensing costs reduced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___%</a:t>
              </a:r>
              <a:endParaRPr lang="pl-PL" sz="1600" dirty="0">
                <a:solidFill>
                  <a:srgbClr val="E97132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endParaRP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Infrastructure expenditure reduced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___%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Performance improved by </a:t>
              </a:r>
              <a:r>
                <a:rPr lang="en-US" sz="16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___%</a:t>
              </a:r>
            </a:p>
            <a:p>
              <a:pPr marL="171450" indent="-171450" defTabSz="45720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7132"/>
                </a:buClr>
                <a:buFont typeface="Wingdings" panose="05000000000000000000" pitchFamily="2" charset="2"/>
                <a:buChar char="ü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Vendor dependency significantly reduced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362A0C1-A5C7-B81E-88C0-18F11BC0F8FC}"/>
              </a:ext>
            </a:extLst>
          </p:cNvPr>
          <p:cNvSpPr txBox="1"/>
          <p:nvPr/>
        </p:nvSpPr>
        <p:spPr>
          <a:xfrm>
            <a:off x="2826025" y="5912466"/>
            <a:ext cx="71892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IT infrastructure transformed from a cost center</a:t>
            </a:r>
          </a:p>
          <a:p>
            <a:pPr algn="ctr">
              <a:buNone/>
            </a:pPr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into a predictable, scalable financial asset</a:t>
            </a:r>
          </a:p>
        </p:txBody>
      </p:sp>
    </p:spTree>
    <p:extLst>
      <p:ext uri="{BB962C8B-B14F-4D97-AF65-F5344CB8AC3E}">
        <p14:creationId xmlns:p14="http://schemas.microsoft.com/office/powerpoint/2010/main" val="1837364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7079-327F-A0AE-49C4-6B4C2DECA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60E513-2C9D-168A-023C-2054E3D91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73CAFE4-8BD3-F908-1028-DCA2C4ECBCF1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DDBB3164-7013-49B7-DE74-9C9FE1C9E418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27BF931C-5841-674B-303D-385C2770018B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Enterprise case study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2D5BCE60-BBB4-7237-31F5-48C30AC56164}"/>
              </a:ext>
            </a:extLst>
          </p:cNvPr>
          <p:cNvGrpSpPr/>
          <p:nvPr/>
        </p:nvGrpSpPr>
        <p:grpSpPr>
          <a:xfrm>
            <a:off x="623888" y="3088616"/>
            <a:ext cx="3512586" cy="1903604"/>
            <a:chOff x="624175" y="2643326"/>
            <a:chExt cx="3512586" cy="190360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C189A6-D59A-0908-4E2B-D4754221913D}"/>
                </a:ext>
              </a:extLst>
            </p:cNvPr>
            <p:cNvSpPr txBox="1"/>
            <p:nvPr/>
          </p:nvSpPr>
          <p:spPr>
            <a:xfrm>
              <a:off x="624175" y="3103778"/>
              <a:ext cx="3512586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Architectural alignment with enterprise data strategy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Integration into mission-critical infrastructure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Operational discipline and rapid execution capability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47E35F-4400-0974-E04D-9B498CE13B8F}"/>
                </a:ext>
              </a:extLst>
            </p:cNvPr>
            <p:cNvSpPr txBox="1"/>
            <p:nvPr/>
          </p:nvSpPr>
          <p:spPr>
            <a:xfrm>
              <a:off x="624175" y="2643326"/>
              <a:ext cx="2870700" cy="3280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Bef>
                  <a:spcPts val="0"/>
                </a:spcBef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Why </a:t>
              </a:r>
              <a:r>
                <a:rPr lang="en-US" b="1" spc="68" dirty="0" err="1">
                  <a:solidFill>
                    <a:srgbClr val="156082"/>
                  </a:solidFill>
                  <a:latin typeface="Helios" panose="020B0604020202020204" charset="0"/>
                </a:rPr>
                <a:t>DataLead</a:t>
              </a:r>
              <a:endParaRPr lang="en-US" b="1" spc="68" dirty="0">
                <a:solidFill>
                  <a:srgbClr val="156082"/>
                </a:solidFill>
                <a:latin typeface="Helios" panose="020B060402020202020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DE4F585-D6DA-2921-9C03-CEF1AED6EC98}"/>
              </a:ext>
            </a:extLst>
          </p:cNvPr>
          <p:cNvSpPr txBox="1"/>
          <p:nvPr/>
        </p:nvSpPr>
        <p:spPr>
          <a:xfrm>
            <a:off x="4435430" y="3714351"/>
            <a:ext cx="42513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defTabSz="457200">
              <a:lnSpc>
                <a:spcPts val="1800"/>
              </a:lnSpc>
              <a:spcAft>
                <a:spcPts val="1200"/>
              </a:spcAft>
              <a:defRPr/>
            </a:pPr>
            <a:r>
              <a:rPr lang="en-US" b="1" spc="68" dirty="0">
                <a:solidFill>
                  <a:srgbClr val="156082"/>
                </a:solidFill>
                <a:latin typeface="Helios" panose="020B0604020202020204" charset="0"/>
              </a:rPr>
              <a:t>Measurable impact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1C8883-CD15-0C08-6DFC-2283B1FC017B}"/>
              </a:ext>
            </a:extLst>
          </p:cNvPr>
          <p:cNvSpPr txBox="1"/>
          <p:nvPr/>
        </p:nvSpPr>
        <p:spPr>
          <a:xfrm>
            <a:off x="4435430" y="4053287"/>
            <a:ext cx="4251370" cy="1443152"/>
          </a:xfrm>
          <a:prstGeom prst="rect">
            <a:avLst/>
          </a:prstGeom>
          <a:noFill/>
        </p:spPr>
        <p:txBody>
          <a:bodyPr wrap="square" lIns="90000">
            <a:spAutoFit/>
          </a:bodyPr>
          <a:lstStyle/>
          <a:p>
            <a:pPr marL="171450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Millions saved annually through optimized architecture</a:t>
            </a:r>
          </a:p>
          <a:p>
            <a:pPr marL="171450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3× faster implementation and execution cycle</a:t>
            </a:r>
          </a:p>
          <a:p>
            <a:pPr marL="171450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Accelerated integration into enterprise data operations</a:t>
            </a:r>
          </a:p>
          <a:p>
            <a:pPr marL="171450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Improved scalability and platform performance</a:t>
            </a:r>
          </a:p>
          <a:p>
            <a:pPr marL="171450" indent="-17145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Enterprise-grade execution under real-world constraints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0F3939-C419-4116-7243-03B6FA5223C6}"/>
              </a:ext>
            </a:extLst>
          </p:cNvPr>
          <p:cNvSpPr txBox="1"/>
          <p:nvPr/>
        </p:nvSpPr>
        <p:spPr>
          <a:xfrm>
            <a:off x="663905" y="1560107"/>
            <a:ext cx="7604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pc="68" dirty="0">
                <a:solidFill>
                  <a:srgbClr val="E97132"/>
                </a:solidFill>
                <a:latin typeface="Helios" panose="020B0604020202020204" charset="0"/>
              </a:rPr>
              <a:t>Dell Technologies — enterprise lakehouse implementation</a:t>
            </a:r>
            <a:endParaRPr lang="en-US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CC753-F6DD-E45C-6B5C-3C5AE1BF6501}"/>
              </a:ext>
            </a:extLst>
          </p:cNvPr>
          <p:cNvSpPr txBox="1"/>
          <p:nvPr/>
        </p:nvSpPr>
        <p:spPr>
          <a:xfrm>
            <a:off x="2818423" y="2070346"/>
            <a:ext cx="70754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Selecting and implementing a modern data platform aligned with product vision, scalability requirements, and cost efficiency — without disrupting ongoing operations.</a:t>
            </a:r>
            <a:endParaRPr lang="ru-RU" sz="1400" dirty="0">
              <a:solidFill>
                <a:srgbClr val="999999"/>
              </a:solidFill>
              <a:latin typeface="Helios" panose="020B0604020202020204" charset="0"/>
              <a:ea typeface="Lato Light" panose="020F0502020204030203" pitchFamily="34" charset="0"/>
              <a:cs typeface="Poppins Ligh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D6480-A3FE-F7CC-9805-7F9E354C2DB2}"/>
              </a:ext>
            </a:extLst>
          </p:cNvPr>
          <p:cNvSpPr txBox="1"/>
          <p:nvPr/>
        </p:nvSpPr>
        <p:spPr>
          <a:xfrm>
            <a:off x="623888" y="2093599"/>
            <a:ext cx="1915031" cy="32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 defTabSz="457200">
              <a:lnSpc>
                <a:spcPts val="18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spc="68" dirty="0">
                <a:solidFill>
                  <a:srgbClr val="156082"/>
                </a:solidFill>
                <a:latin typeface="Helios" panose="020B0604020202020204" charset="0"/>
              </a:rPr>
              <a:t>The challenge</a:t>
            </a:r>
            <a:r>
              <a:rPr lang="ru-RU" b="1" spc="68" dirty="0">
                <a:solidFill>
                  <a:srgbClr val="156082"/>
                </a:solidFill>
                <a:latin typeface="Helios" panose="020B0604020202020204" charset="0"/>
              </a:rPr>
              <a:t>:</a:t>
            </a:r>
            <a:endParaRPr lang="en-US" b="1" spc="68" dirty="0">
              <a:solidFill>
                <a:srgbClr val="156082"/>
              </a:solidFill>
              <a:latin typeface="Helios" panose="020B0604020202020204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DE868440-9AD9-D51B-7636-90F403CA9566}"/>
              </a:ext>
            </a:extLst>
          </p:cNvPr>
          <p:cNvGrpSpPr/>
          <p:nvPr/>
        </p:nvGrpSpPr>
        <p:grpSpPr>
          <a:xfrm>
            <a:off x="8872512" y="3178559"/>
            <a:ext cx="3047021" cy="2171752"/>
            <a:chOff x="10381929" y="3684820"/>
            <a:chExt cx="6254415" cy="4457810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C4ACADC5-CBB6-93A6-0209-99420BB938D5}"/>
                </a:ext>
              </a:extLst>
            </p:cNvPr>
            <p:cNvSpPr/>
            <p:nvPr/>
          </p:nvSpPr>
          <p:spPr>
            <a:xfrm>
              <a:off x="10396217" y="5551467"/>
              <a:ext cx="1761150" cy="568414"/>
            </a:xfrm>
            <a:custGeom>
              <a:avLst/>
              <a:gdLst/>
              <a:ahLst/>
              <a:cxnLst/>
              <a:rect l="l" t="t" r="r" b="b"/>
              <a:pathLst>
                <a:path w="1761150" h="568414">
                  <a:moveTo>
                    <a:pt x="0" y="0"/>
                  </a:moveTo>
                  <a:lnTo>
                    <a:pt x="1761150" y="0"/>
                  </a:lnTo>
                  <a:lnTo>
                    <a:pt x="1761150" y="568413"/>
                  </a:lnTo>
                  <a:lnTo>
                    <a:pt x="0" y="568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AE9FBC9-7986-C76D-7077-0C01DE141CF1}"/>
                </a:ext>
              </a:extLst>
            </p:cNvPr>
            <p:cNvSpPr/>
            <p:nvPr/>
          </p:nvSpPr>
          <p:spPr>
            <a:xfrm>
              <a:off x="10572739" y="4735708"/>
              <a:ext cx="1598915" cy="195867"/>
            </a:xfrm>
            <a:custGeom>
              <a:avLst/>
              <a:gdLst/>
              <a:ahLst/>
              <a:cxnLst/>
              <a:rect l="l" t="t" r="r" b="b"/>
              <a:pathLst>
                <a:path w="1598915" h="195867">
                  <a:moveTo>
                    <a:pt x="0" y="0"/>
                  </a:moveTo>
                  <a:lnTo>
                    <a:pt x="1598915" y="0"/>
                  </a:lnTo>
                  <a:lnTo>
                    <a:pt x="1598915" y="195867"/>
                  </a:lnTo>
                  <a:lnTo>
                    <a:pt x="0" y="195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05545A5-8FBD-87CD-8495-D5AC541674F1}"/>
                </a:ext>
              </a:extLst>
            </p:cNvPr>
            <p:cNvSpPr/>
            <p:nvPr/>
          </p:nvSpPr>
          <p:spPr>
            <a:xfrm>
              <a:off x="10859619" y="7662568"/>
              <a:ext cx="1488563" cy="480062"/>
            </a:xfrm>
            <a:custGeom>
              <a:avLst/>
              <a:gdLst/>
              <a:ahLst/>
              <a:cxnLst/>
              <a:rect l="l" t="t" r="r" b="b"/>
              <a:pathLst>
                <a:path w="1488563" h="480062">
                  <a:moveTo>
                    <a:pt x="0" y="0"/>
                  </a:moveTo>
                  <a:lnTo>
                    <a:pt x="1488564" y="0"/>
                  </a:lnTo>
                  <a:lnTo>
                    <a:pt x="1488564" y="480061"/>
                  </a:lnTo>
                  <a:lnTo>
                    <a:pt x="0" y="480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BDB3827-3FE2-CE43-F1DC-B89198AB7755}"/>
                </a:ext>
              </a:extLst>
            </p:cNvPr>
            <p:cNvSpPr/>
            <p:nvPr/>
          </p:nvSpPr>
          <p:spPr>
            <a:xfrm>
              <a:off x="10826282" y="6646563"/>
              <a:ext cx="1312035" cy="416571"/>
            </a:xfrm>
            <a:custGeom>
              <a:avLst/>
              <a:gdLst/>
              <a:ahLst/>
              <a:cxnLst/>
              <a:rect l="l" t="t" r="r" b="b"/>
              <a:pathLst>
                <a:path w="1312035" h="416571">
                  <a:moveTo>
                    <a:pt x="0" y="0"/>
                  </a:moveTo>
                  <a:lnTo>
                    <a:pt x="1312035" y="0"/>
                  </a:lnTo>
                  <a:lnTo>
                    <a:pt x="1312035" y="416571"/>
                  </a:lnTo>
                  <a:lnTo>
                    <a:pt x="0" y="416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C0D6A457-6F0F-1FAC-A4B2-BD1EFC550393}"/>
                </a:ext>
              </a:extLst>
            </p:cNvPr>
            <p:cNvSpPr/>
            <p:nvPr/>
          </p:nvSpPr>
          <p:spPr>
            <a:xfrm>
              <a:off x="10381929" y="3684820"/>
              <a:ext cx="1789725" cy="281882"/>
            </a:xfrm>
            <a:custGeom>
              <a:avLst/>
              <a:gdLst/>
              <a:ahLst/>
              <a:cxnLst/>
              <a:rect l="l" t="t" r="r" b="b"/>
              <a:pathLst>
                <a:path w="1789725" h="281882">
                  <a:moveTo>
                    <a:pt x="0" y="0"/>
                  </a:moveTo>
                  <a:lnTo>
                    <a:pt x="1789725" y="0"/>
                  </a:lnTo>
                  <a:lnTo>
                    <a:pt x="1789725" y="281882"/>
                  </a:lnTo>
                  <a:lnTo>
                    <a:pt x="0" y="281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B89AB3B-E006-4601-222A-EDD85C683677}"/>
                </a:ext>
              </a:extLst>
            </p:cNvPr>
            <p:cNvSpPr/>
            <p:nvPr/>
          </p:nvSpPr>
          <p:spPr>
            <a:xfrm>
              <a:off x="14662506" y="5694005"/>
              <a:ext cx="1973838" cy="340487"/>
            </a:xfrm>
            <a:custGeom>
              <a:avLst/>
              <a:gdLst/>
              <a:ahLst/>
              <a:cxnLst/>
              <a:rect l="l" t="t" r="r" b="b"/>
              <a:pathLst>
                <a:path w="1973838" h="340487">
                  <a:moveTo>
                    <a:pt x="0" y="0"/>
                  </a:moveTo>
                  <a:lnTo>
                    <a:pt x="1973838" y="0"/>
                  </a:lnTo>
                  <a:lnTo>
                    <a:pt x="1973838" y="340487"/>
                  </a:lnTo>
                  <a:lnTo>
                    <a:pt x="0" y="340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AutoShape 15">
              <a:extLst>
                <a:ext uri="{FF2B5EF4-FFF2-40B4-BE49-F238E27FC236}">
                  <a16:creationId xmlns:a16="http://schemas.microsoft.com/office/drawing/2014/main" id="{944C9FFF-B041-7F95-7C30-698C15ACAAFF}"/>
                </a:ext>
              </a:extLst>
            </p:cNvPr>
            <p:cNvSpPr/>
            <p:nvPr/>
          </p:nvSpPr>
          <p:spPr>
            <a:xfrm>
              <a:off x="13469736" y="3825761"/>
              <a:ext cx="0" cy="4076838"/>
            </a:xfrm>
            <a:prstGeom prst="line">
              <a:avLst/>
            </a:prstGeom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AutoShape 16">
              <a:extLst>
                <a:ext uri="{FF2B5EF4-FFF2-40B4-BE49-F238E27FC236}">
                  <a16:creationId xmlns:a16="http://schemas.microsoft.com/office/drawing/2014/main" id="{810E4E76-7042-459F-475A-8A87441F62F4}"/>
                </a:ext>
              </a:extLst>
            </p:cNvPr>
            <p:cNvSpPr/>
            <p:nvPr/>
          </p:nvSpPr>
          <p:spPr>
            <a:xfrm>
              <a:off x="12637087" y="3825761"/>
              <a:ext cx="832649" cy="0"/>
            </a:xfrm>
            <a:prstGeom prst="line">
              <a:avLst/>
            </a:prstGeom>
            <a:ln w="19050" cap="flat">
              <a:solidFill>
                <a:srgbClr val="000000"/>
              </a:solidFill>
              <a:prstDash val="solid"/>
              <a:headEnd type="oval" w="lg" len="lg"/>
              <a:tailEnd type="none" w="sm" len="sm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AutoShape 17">
              <a:extLst>
                <a:ext uri="{FF2B5EF4-FFF2-40B4-BE49-F238E27FC236}">
                  <a16:creationId xmlns:a16="http://schemas.microsoft.com/office/drawing/2014/main" id="{1946BB6A-A8CA-535D-4B60-E7DF213EF3BC}"/>
                </a:ext>
              </a:extLst>
            </p:cNvPr>
            <p:cNvSpPr/>
            <p:nvPr/>
          </p:nvSpPr>
          <p:spPr>
            <a:xfrm>
              <a:off x="12637087" y="4845074"/>
              <a:ext cx="832649" cy="0"/>
            </a:xfrm>
            <a:prstGeom prst="line">
              <a:avLst/>
            </a:prstGeom>
            <a:ln w="19050" cap="flat">
              <a:solidFill>
                <a:srgbClr val="000000"/>
              </a:solidFill>
              <a:prstDash val="solid"/>
              <a:headEnd type="oval" w="lg" len="lg"/>
              <a:tailEnd type="none" w="sm" len="sm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AutoShape 18">
              <a:extLst>
                <a:ext uri="{FF2B5EF4-FFF2-40B4-BE49-F238E27FC236}">
                  <a16:creationId xmlns:a16="http://schemas.microsoft.com/office/drawing/2014/main" id="{F677C791-8938-8E38-EE69-8A1571356ABA}"/>
                </a:ext>
              </a:extLst>
            </p:cNvPr>
            <p:cNvSpPr/>
            <p:nvPr/>
          </p:nvSpPr>
          <p:spPr>
            <a:xfrm>
              <a:off x="12637087" y="6883424"/>
              <a:ext cx="832649" cy="0"/>
            </a:xfrm>
            <a:prstGeom prst="line">
              <a:avLst/>
            </a:prstGeom>
            <a:ln w="19050" cap="flat">
              <a:solidFill>
                <a:srgbClr val="000000"/>
              </a:solidFill>
              <a:prstDash val="solid"/>
              <a:headEnd type="oval" w="lg" len="lg"/>
              <a:tailEnd type="none" w="sm" len="sm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AutoShape 19">
              <a:extLst>
                <a:ext uri="{FF2B5EF4-FFF2-40B4-BE49-F238E27FC236}">
                  <a16:creationId xmlns:a16="http://schemas.microsoft.com/office/drawing/2014/main" id="{455EC46C-6405-AB02-2193-E1F6BC3765C1}"/>
                </a:ext>
              </a:extLst>
            </p:cNvPr>
            <p:cNvSpPr/>
            <p:nvPr/>
          </p:nvSpPr>
          <p:spPr>
            <a:xfrm>
              <a:off x="12637087" y="7902599"/>
              <a:ext cx="832649" cy="0"/>
            </a:xfrm>
            <a:prstGeom prst="line">
              <a:avLst/>
            </a:prstGeom>
            <a:ln w="19050" cap="flat">
              <a:solidFill>
                <a:srgbClr val="000000"/>
              </a:solidFill>
              <a:prstDash val="solid"/>
              <a:headEnd type="oval" w="lg" len="lg"/>
              <a:tailEnd type="none" w="sm" len="sm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AutoShape 20">
              <a:extLst>
                <a:ext uri="{FF2B5EF4-FFF2-40B4-BE49-F238E27FC236}">
                  <a16:creationId xmlns:a16="http://schemas.microsoft.com/office/drawing/2014/main" id="{C939F786-E1FE-2273-1745-3B1F53EBFE18}"/>
                </a:ext>
              </a:extLst>
            </p:cNvPr>
            <p:cNvSpPr/>
            <p:nvPr/>
          </p:nvSpPr>
          <p:spPr>
            <a:xfrm>
              <a:off x="12637087" y="5864249"/>
              <a:ext cx="832649" cy="0"/>
            </a:xfrm>
            <a:prstGeom prst="line">
              <a:avLst/>
            </a:prstGeom>
            <a:ln w="19050" cap="flat">
              <a:solidFill>
                <a:srgbClr val="000000"/>
              </a:solidFill>
              <a:prstDash val="solid"/>
              <a:headEnd type="oval" w="lg" len="lg"/>
              <a:tailEnd type="none" w="sm" len="sm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AutoShape 21">
              <a:extLst>
                <a:ext uri="{FF2B5EF4-FFF2-40B4-BE49-F238E27FC236}">
                  <a16:creationId xmlns:a16="http://schemas.microsoft.com/office/drawing/2014/main" id="{32418EF4-AFA9-C712-723E-6D25B15778B1}"/>
                </a:ext>
              </a:extLst>
            </p:cNvPr>
            <p:cNvSpPr/>
            <p:nvPr/>
          </p:nvSpPr>
          <p:spPr>
            <a:xfrm flipH="1">
              <a:off x="13469736" y="5864249"/>
              <a:ext cx="832649" cy="0"/>
            </a:xfrm>
            <a:prstGeom prst="line">
              <a:avLst/>
            </a:prstGeom>
            <a:ln w="19050" cap="flat">
              <a:solidFill>
                <a:srgbClr val="000000"/>
              </a:solidFill>
              <a:prstDash val="solid"/>
              <a:headEnd type="triangle" w="lg" len="med"/>
              <a:tailEnd type="none" w="sm" len="sm"/>
            </a:ln>
          </p:spPr>
          <p:txBody>
            <a:bodyPr/>
            <a:lstStyle/>
            <a:p>
              <a:endParaRPr lang="ru-RU"/>
            </a:p>
          </p:txBody>
        </p:sp>
        <p:grpSp>
          <p:nvGrpSpPr>
            <p:cNvPr id="27" name="Group 22">
              <a:extLst>
                <a:ext uri="{FF2B5EF4-FFF2-40B4-BE49-F238E27FC236}">
                  <a16:creationId xmlns:a16="http://schemas.microsoft.com/office/drawing/2014/main" id="{BBDBFB18-1CDB-F4DC-AF45-4C82A94ED14C}"/>
                </a:ext>
              </a:extLst>
            </p:cNvPr>
            <p:cNvGrpSpPr/>
            <p:nvPr/>
          </p:nvGrpSpPr>
          <p:grpSpPr>
            <a:xfrm rot="5400000">
              <a:off x="14147175" y="5750787"/>
              <a:ext cx="259340" cy="226923"/>
              <a:chOff x="0" y="0"/>
              <a:chExt cx="812800" cy="711200"/>
            </a:xfrm>
          </p:grpSpPr>
          <p:sp>
            <p:nvSpPr>
              <p:cNvPr id="28" name="Freeform 23">
                <a:extLst>
                  <a:ext uri="{FF2B5EF4-FFF2-40B4-BE49-F238E27FC236}">
                    <a16:creationId xmlns:a16="http://schemas.microsoft.com/office/drawing/2014/main" id="{B9184803-AFB8-F854-9207-642CAFB2876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29" name="TextBox 24">
                <a:extLst>
                  <a:ext uri="{FF2B5EF4-FFF2-40B4-BE49-F238E27FC236}">
                    <a16:creationId xmlns:a16="http://schemas.microsoft.com/office/drawing/2014/main" id="{32638E31-46B3-15F9-06E9-DC64C1E7C800}"/>
                  </a:ext>
                </a:extLst>
              </p:cNvPr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4710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6806-3020-8AA8-6E95-51A83B04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230F5B-8A01-62E2-4946-ACF083904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73796FB-2D76-8F68-FC43-45661B9676CA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C625DCF6-F63D-558A-4065-B49ACF8DE13A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6A5853BE-4E13-6668-0531-8FDABCE14DB5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Trusted by mission-critical organizations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BEE35CE0-A7B5-1707-14FE-E7B61B4EE2A3}"/>
              </a:ext>
            </a:extLst>
          </p:cNvPr>
          <p:cNvGrpSpPr/>
          <p:nvPr/>
        </p:nvGrpSpPr>
        <p:grpSpPr>
          <a:xfrm>
            <a:off x="573088" y="2566542"/>
            <a:ext cx="3512586" cy="1903604"/>
            <a:chOff x="583802" y="1985610"/>
            <a:chExt cx="3512586" cy="190360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D40967-7D51-ED5D-9665-9A7F845A5C03}"/>
                </a:ext>
              </a:extLst>
            </p:cNvPr>
            <p:cNvSpPr txBox="1"/>
            <p:nvPr/>
          </p:nvSpPr>
          <p:spPr>
            <a:xfrm>
              <a:off x="583802" y="2446062"/>
              <a:ext cx="3512586" cy="1443152"/>
            </a:xfrm>
            <a:prstGeom prst="rect">
              <a:avLst/>
            </a:prstGeom>
            <a:noFill/>
          </p:spPr>
          <p:txBody>
            <a:bodyPr wrap="square" lIns="90000">
              <a:spAutoFit/>
            </a:bodyPr>
            <a:lstStyle/>
            <a:p>
              <a:pPr marL="171450" indent="-171450" defTabSz="457200">
                <a:lnSpc>
                  <a:spcPct val="150000"/>
                </a:lnSpc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Banking and financial services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Telecommunications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Government and public sector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Large-scale digital enterprises</a:t>
              </a:r>
            </a:p>
            <a:p>
              <a:pPr marL="171450" indent="-171450" defTabSz="457200">
                <a:lnSpc>
                  <a:spcPct val="150000"/>
                </a:lnSpc>
                <a:buClr>
                  <a:srgbClr val="E97132"/>
                </a:buClr>
                <a:buFont typeface="Wingdings" panose="05000000000000000000" pitchFamily="2" charset="2"/>
                <a:buChar char="Ø"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AI-transforming organizations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E8B035-D39A-C58E-967A-76305A35B3E6}"/>
                </a:ext>
              </a:extLst>
            </p:cNvPr>
            <p:cNvSpPr txBox="1"/>
            <p:nvPr/>
          </p:nvSpPr>
          <p:spPr>
            <a:xfrm>
              <a:off x="583802" y="1985610"/>
              <a:ext cx="2870700" cy="3280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342900" defTabSz="457200">
                <a:lnSpc>
                  <a:spcPts val="1800"/>
                </a:lnSpc>
                <a:spcBef>
                  <a:spcPts val="0"/>
                </a:spcBef>
                <a:spcAft>
                  <a:spcPts val="1200"/>
                </a:spcAft>
                <a:defRPr/>
              </a:pPr>
              <a:r>
                <a:rPr lang="en-US" b="1" spc="68" dirty="0">
                  <a:solidFill>
                    <a:srgbClr val="156082"/>
                  </a:solidFill>
                  <a:latin typeface="Helios" panose="020B0604020202020204" charset="0"/>
                </a:rPr>
                <a:t>Industries we serve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5195FAEC-7903-DF82-5ED8-6DB1B641DFDB}"/>
              </a:ext>
            </a:extLst>
          </p:cNvPr>
          <p:cNvSpPr txBox="1"/>
          <p:nvPr/>
        </p:nvSpPr>
        <p:spPr>
          <a:xfrm>
            <a:off x="663905" y="1560107"/>
            <a:ext cx="9482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68" dirty="0">
                <a:solidFill>
                  <a:srgbClr val="E97132"/>
                </a:solidFill>
                <a:latin typeface="Helios" panose="020B0604020202020204" charset="0"/>
              </a:rPr>
              <a:t>Our expertise supports regulated and high-impact environments across industries.</a:t>
            </a:r>
          </a:p>
        </p:txBody>
      </p: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C3E7EE79-641D-F9AE-19EA-CBBABD35E4D0}"/>
              </a:ext>
            </a:extLst>
          </p:cNvPr>
          <p:cNvGrpSpPr/>
          <p:nvPr/>
        </p:nvGrpSpPr>
        <p:grpSpPr>
          <a:xfrm>
            <a:off x="2518759" y="2401225"/>
            <a:ext cx="9320815" cy="2896668"/>
            <a:chOff x="1894483" y="3406366"/>
            <a:chExt cx="9320815" cy="2896668"/>
          </a:xfrm>
        </p:grpSpPr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7A2E26A1-E160-889A-C9BA-2F7CC7DA1396}"/>
                </a:ext>
              </a:extLst>
            </p:cNvPr>
            <p:cNvSpPr/>
            <p:nvPr/>
          </p:nvSpPr>
          <p:spPr>
            <a:xfrm>
              <a:off x="6553288" y="5608984"/>
              <a:ext cx="1742802" cy="694050"/>
            </a:xfrm>
            <a:custGeom>
              <a:avLst/>
              <a:gdLst/>
              <a:ahLst/>
              <a:cxnLst/>
              <a:rect l="l" t="t" r="r" b="b"/>
              <a:pathLst>
                <a:path w="2928017" h="1166047">
                  <a:moveTo>
                    <a:pt x="0" y="0"/>
                  </a:moveTo>
                  <a:lnTo>
                    <a:pt x="2928017" y="0"/>
                  </a:lnTo>
                  <a:lnTo>
                    <a:pt x="2928017" y="1166047"/>
                  </a:lnTo>
                  <a:lnTo>
                    <a:pt x="0" y="1166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256" t="-84910" r="-14129" b="-51539"/>
              </a:stretch>
            </a:blipFill>
          </p:spPr>
          <p:txBody>
            <a:bodyPr/>
            <a:lstStyle/>
            <a:p>
              <a:endParaRPr lang="ru-RU"/>
            </a:p>
          </p:txBody>
        </p:sp>
        <p:grpSp>
          <p:nvGrpSpPr>
            <p:cNvPr id="51" name="Группа 50">
              <a:extLst>
                <a:ext uri="{FF2B5EF4-FFF2-40B4-BE49-F238E27FC236}">
                  <a16:creationId xmlns:a16="http://schemas.microsoft.com/office/drawing/2014/main" id="{4A8C26D4-69C4-9481-ABB5-A4CA7C07D985}"/>
                </a:ext>
              </a:extLst>
            </p:cNvPr>
            <p:cNvGrpSpPr/>
            <p:nvPr/>
          </p:nvGrpSpPr>
          <p:grpSpPr>
            <a:xfrm>
              <a:off x="1894483" y="3406366"/>
              <a:ext cx="9320815" cy="2896668"/>
              <a:chOff x="1894483" y="3406366"/>
              <a:chExt cx="9320815" cy="2896668"/>
            </a:xfrm>
          </p:grpSpPr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215BA3BC-2161-3CAC-DB02-70DE16C4DD35}"/>
                  </a:ext>
                </a:extLst>
              </p:cNvPr>
              <p:cNvSpPr/>
              <p:nvPr/>
            </p:nvSpPr>
            <p:spPr>
              <a:xfrm>
                <a:off x="10070500" y="5554473"/>
                <a:ext cx="1144798" cy="748561"/>
              </a:xfrm>
              <a:custGeom>
                <a:avLst/>
                <a:gdLst/>
                <a:ahLst/>
                <a:cxnLst/>
                <a:rect l="l" t="t" r="r" b="b"/>
                <a:pathLst>
                  <a:path w="1806189" h="1181032">
                    <a:moveTo>
                      <a:pt x="0" y="0"/>
                    </a:moveTo>
                    <a:lnTo>
                      <a:pt x="1806189" y="0"/>
                    </a:lnTo>
                    <a:lnTo>
                      <a:pt x="1806189" y="1181032"/>
                    </a:lnTo>
                    <a:lnTo>
                      <a:pt x="0" y="11810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8149" t="-27687" r="-31036" b="-22357"/>
                </a:stretch>
              </a:blipFill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50" name="Группа 49">
                <a:extLst>
                  <a:ext uri="{FF2B5EF4-FFF2-40B4-BE49-F238E27FC236}">
                    <a16:creationId xmlns:a16="http://schemas.microsoft.com/office/drawing/2014/main" id="{AC880385-F7CC-5ED3-F058-CEE896175AD5}"/>
                  </a:ext>
                </a:extLst>
              </p:cNvPr>
              <p:cNvGrpSpPr/>
              <p:nvPr/>
            </p:nvGrpSpPr>
            <p:grpSpPr>
              <a:xfrm>
                <a:off x="1894483" y="3406366"/>
                <a:ext cx="9190781" cy="2739265"/>
                <a:chOff x="1894483" y="3406366"/>
                <a:chExt cx="9190781" cy="2739265"/>
              </a:xfrm>
            </p:grpSpPr>
            <p:sp>
              <p:nvSpPr>
                <p:cNvPr id="24" name="Freeform 12">
                  <a:extLst>
                    <a:ext uri="{FF2B5EF4-FFF2-40B4-BE49-F238E27FC236}">
                      <a16:creationId xmlns:a16="http://schemas.microsoft.com/office/drawing/2014/main" id="{82F475CB-362C-538B-0FEE-C2E827FF7B19}"/>
                    </a:ext>
                  </a:extLst>
                </p:cNvPr>
                <p:cNvSpPr/>
                <p:nvPr/>
              </p:nvSpPr>
              <p:spPr>
                <a:xfrm>
                  <a:off x="8461881" y="5732253"/>
                  <a:ext cx="1462345" cy="366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952" h="628702">
                      <a:moveTo>
                        <a:pt x="0" y="0"/>
                      </a:moveTo>
                      <a:lnTo>
                        <a:pt x="2508952" y="0"/>
                      </a:lnTo>
                      <a:lnTo>
                        <a:pt x="2508952" y="628702"/>
                      </a:lnTo>
                      <a:lnTo>
                        <a:pt x="0" y="62870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7"/>
                  <a:stretch>
                    <a:fillRect t="-1213" b="-1213"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5" name="Freeform 13">
                  <a:extLst>
                    <a:ext uri="{FF2B5EF4-FFF2-40B4-BE49-F238E27FC236}">
                      <a16:creationId xmlns:a16="http://schemas.microsoft.com/office/drawing/2014/main" id="{555F7299-A8BB-8A55-C43C-F56D56B92316}"/>
                    </a:ext>
                  </a:extLst>
                </p:cNvPr>
                <p:cNvSpPr/>
                <p:nvPr/>
              </p:nvSpPr>
              <p:spPr>
                <a:xfrm>
                  <a:off x="4574665" y="5295090"/>
                  <a:ext cx="1174480" cy="282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5528" h="539826">
                      <a:moveTo>
                        <a:pt x="0" y="0"/>
                      </a:moveTo>
                      <a:lnTo>
                        <a:pt x="2245528" y="0"/>
                      </a:lnTo>
                      <a:lnTo>
                        <a:pt x="2245528" y="539827"/>
                      </a:lnTo>
                      <a:lnTo>
                        <a:pt x="0" y="5398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2" name="Freeform 15">
                  <a:extLst>
                    <a:ext uri="{FF2B5EF4-FFF2-40B4-BE49-F238E27FC236}">
                      <a16:creationId xmlns:a16="http://schemas.microsoft.com/office/drawing/2014/main" id="{88FCCEB5-3247-BF81-9AD7-E26638108E32}"/>
                    </a:ext>
                  </a:extLst>
                </p:cNvPr>
                <p:cNvSpPr/>
                <p:nvPr/>
              </p:nvSpPr>
              <p:spPr>
                <a:xfrm>
                  <a:off x="5603399" y="4350886"/>
                  <a:ext cx="897870" cy="6756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373" h="1317909">
                      <a:moveTo>
                        <a:pt x="0" y="0"/>
                      </a:moveTo>
                      <a:lnTo>
                        <a:pt x="1751374" y="0"/>
                      </a:lnTo>
                      <a:lnTo>
                        <a:pt x="1751374" y="1317909"/>
                      </a:lnTo>
                      <a:lnTo>
                        <a:pt x="0" y="131790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3" name="Freeform 16">
                  <a:extLst>
                    <a:ext uri="{FF2B5EF4-FFF2-40B4-BE49-F238E27FC236}">
                      <a16:creationId xmlns:a16="http://schemas.microsoft.com/office/drawing/2014/main" id="{A9FF0C1D-7EAD-54C6-CDAA-0AD5AACD34E6}"/>
                    </a:ext>
                  </a:extLst>
                </p:cNvPr>
                <p:cNvSpPr/>
                <p:nvPr/>
              </p:nvSpPr>
              <p:spPr>
                <a:xfrm>
                  <a:off x="1894483" y="5451581"/>
                  <a:ext cx="969005" cy="69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114" h="1233464">
                      <a:moveTo>
                        <a:pt x="0" y="0"/>
                      </a:moveTo>
                      <a:lnTo>
                        <a:pt x="1722115" y="0"/>
                      </a:lnTo>
                      <a:lnTo>
                        <a:pt x="1722115" y="1233464"/>
                      </a:lnTo>
                      <a:lnTo>
                        <a:pt x="0" y="1233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5" name="Freeform 17">
                  <a:extLst>
                    <a:ext uri="{FF2B5EF4-FFF2-40B4-BE49-F238E27FC236}">
                      <a16:creationId xmlns:a16="http://schemas.microsoft.com/office/drawing/2014/main" id="{069C9C6B-F73F-560D-680A-2CED68DE875F}"/>
                    </a:ext>
                  </a:extLst>
                </p:cNvPr>
                <p:cNvSpPr/>
                <p:nvPr/>
              </p:nvSpPr>
              <p:spPr>
                <a:xfrm>
                  <a:off x="6061859" y="5295090"/>
                  <a:ext cx="1381733" cy="283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7589" h="559156">
                      <a:moveTo>
                        <a:pt x="0" y="0"/>
                      </a:moveTo>
                      <a:lnTo>
                        <a:pt x="2727589" y="0"/>
                      </a:lnTo>
                      <a:lnTo>
                        <a:pt x="2727589" y="559156"/>
                      </a:lnTo>
                      <a:lnTo>
                        <a:pt x="0" y="5591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 dirty="0"/>
                </a:p>
              </p:txBody>
            </p:sp>
            <p:sp>
              <p:nvSpPr>
                <p:cNvPr id="37" name="Freeform 18">
                  <a:extLst>
                    <a:ext uri="{FF2B5EF4-FFF2-40B4-BE49-F238E27FC236}">
                      <a16:creationId xmlns:a16="http://schemas.microsoft.com/office/drawing/2014/main" id="{7F16CA34-29D4-384F-0301-A83C24E7D381}"/>
                    </a:ext>
                  </a:extLst>
                </p:cNvPr>
                <p:cNvSpPr/>
                <p:nvPr/>
              </p:nvSpPr>
              <p:spPr>
                <a:xfrm>
                  <a:off x="3089767" y="5848497"/>
                  <a:ext cx="1591136" cy="250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3960" h="382725">
                      <a:moveTo>
                        <a:pt x="0" y="0"/>
                      </a:moveTo>
                      <a:lnTo>
                        <a:pt x="2433960" y="0"/>
                      </a:lnTo>
                      <a:lnTo>
                        <a:pt x="2433960" y="382725"/>
                      </a:lnTo>
                      <a:lnTo>
                        <a:pt x="0" y="3827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8" name="Freeform 19">
                  <a:extLst>
                    <a:ext uri="{FF2B5EF4-FFF2-40B4-BE49-F238E27FC236}">
                      <a16:creationId xmlns:a16="http://schemas.microsoft.com/office/drawing/2014/main" id="{45622E35-5275-E8CC-E712-6627FF6CABE2}"/>
                    </a:ext>
                  </a:extLst>
                </p:cNvPr>
                <p:cNvSpPr/>
                <p:nvPr/>
              </p:nvSpPr>
              <p:spPr>
                <a:xfrm>
                  <a:off x="4975597" y="5863467"/>
                  <a:ext cx="1313925" cy="185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907" h="283124">
                      <a:moveTo>
                        <a:pt x="0" y="0"/>
                      </a:moveTo>
                      <a:lnTo>
                        <a:pt x="2009908" y="0"/>
                      </a:lnTo>
                      <a:lnTo>
                        <a:pt x="2009908" y="283124"/>
                      </a:lnTo>
                      <a:lnTo>
                        <a:pt x="0" y="2831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3"/>
                  <a:stretch>
                    <a:fillRect t="-191367" b="-191367"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39" name="Freeform 20">
                  <a:extLst>
                    <a:ext uri="{FF2B5EF4-FFF2-40B4-BE49-F238E27FC236}">
                      <a16:creationId xmlns:a16="http://schemas.microsoft.com/office/drawing/2014/main" id="{45C01127-88CE-7BD8-5EBD-545C5214D93B}"/>
                    </a:ext>
                  </a:extLst>
                </p:cNvPr>
                <p:cNvSpPr/>
                <p:nvPr/>
              </p:nvSpPr>
              <p:spPr>
                <a:xfrm>
                  <a:off x="9670126" y="5174769"/>
                  <a:ext cx="1415138" cy="406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5512" h="811929">
                      <a:moveTo>
                        <a:pt x="0" y="0"/>
                      </a:moveTo>
                      <a:lnTo>
                        <a:pt x="2825512" y="0"/>
                      </a:lnTo>
                      <a:lnTo>
                        <a:pt x="2825512" y="811929"/>
                      </a:lnTo>
                      <a:lnTo>
                        <a:pt x="0" y="8119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0" name="Freeform 21">
                  <a:extLst>
                    <a:ext uri="{FF2B5EF4-FFF2-40B4-BE49-F238E27FC236}">
                      <a16:creationId xmlns:a16="http://schemas.microsoft.com/office/drawing/2014/main" id="{51614033-1CB2-EF97-DD08-37CBCFB5F1E3}"/>
                    </a:ext>
                  </a:extLst>
                </p:cNvPr>
                <p:cNvSpPr/>
                <p:nvPr/>
              </p:nvSpPr>
              <p:spPr>
                <a:xfrm>
                  <a:off x="8652351" y="4405804"/>
                  <a:ext cx="1892563" cy="55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0982" h="775412">
                      <a:moveTo>
                        <a:pt x="0" y="0"/>
                      </a:moveTo>
                      <a:lnTo>
                        <a:pt x="2650982" y="0"/>
                      </a:lnTo>
                      <a:lnTo>
                        <a:pt x="2650982" y="775412"/>
                      </a:lnTo>
                      <a:lnTo>
                        <a:pt x="0" y="7754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1" name="Freeform 22">
                  <a:extLst>
                    <a:ext uri="{FF2B5EF4-FFF2-40B4-BE49-F238E27FC236}">
                      <a16:creationId xmlns:a16="http://schemas.microsoft.com/office/drawing/2014/main" id="{21032A9E-DE9C-940F-B447-958F72D7A07F}"/>
                    </a:ext>
                  </a:extLst>
                </p:cNvPr>
                <p:cNvSpPr/>
                <p:nvPr/>
              </p:nvSpPr>
              <p:spPr>
                <a:xfrm>
                  <a:off x="5783604" y="3607170"/>
                  <a:ext cx="1075677" cy="504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907" h="942144">
                      <a:moveTo>
                        <a:pt x="0" y="0"/>
                      </a:moveTo>
                      <a:lnTo>
                        <a:pt x="2009908" y="0"/>
                      </a:lnTo>
                      <a:lnTo>
                        <a:pt x="2009908" y="942145"/>
                      </a:lnTo>
                      <a:lnTo>
                        <a:pt x="0" y="9421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2" name="Freeform 23">
                  <a:extLst>
                    <a:ext uri="{FF2B5EF4-FFF2-40B4-BE49-F238E27FC236}">
                      <a16:creationId xmlns:a16="http://schemas.microsoft.com/office/drawing/2014/main" id="{A1360911-C4C0-4A2F-E8BF-2E9EBEEF3E84}"/>
                    </a:ext>
                  </a:extLst>
                </p:cNvPr>
                <p:cNvSpPr/>
                <p:nvPr/>
              </p:nvSpPr>
              <p:spPr>
                <a:xfrm>
                  <a:off x="7018198" y="4336227"/>
                  <a:ext cx="1217327" cy="730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8085" h="1612851">
                      <a:moveTo>
                        <a:pt x="0" y="0"/>
                      </a:moveTo>
                      <a:lnTo>
                        <a:pt x="2688086" y="0"/>
                      </a:lnTo>
                      <a:lnTo>
                        <a:pt x="2688086" y="1612851"/>
                      </a:lnTo>
                      <a:lnTo>
                        <a:pt x="0" y="16128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3" name="Freeform 24">
                  <a:extLst>
                    <a:ext uri="{FF2B5EF4-FFF2-40B4-BE49-F238E27FC236}">
                      <a16:creationId xmlns:a16="http://schemas.microsoft.com/office/drawing/2014/main" id="{424A2341-D8FA-1A04-9AE0-2A0A14D5191B}"/>
                    </a:ext>
                  </a:extLst>
                </p:cNvPr>
                <p:cNvSpPr/>
                <p:nvPr/>
              </p:nvSpPr>
              <p:spPr>
                <a:xfrm>
                  <a:off x="4096101" y="3607169"/>
                  <a:ext cx="1174481" cy="414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654" h="818383">
                      <a:moveTo>
                        <a:pt x="0" y="0"/>
                      </a:moveTo>
                      <a:lnTo>
                        <a:pt x="2321654" y="0"/>
                      </a:lnTo>
                      <a:lnTo>
                        <a:pt x="2321654" y="818384"/>
                      </a:lnTo>
                      <a:lnTo>
                        <a:pt x="0" y="8183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4" name="Freeform 25">
                  <a:extLst>
                    <a:ext uri="{FF2B5EF4-FFF2-40B4-BE49-F238E27FC236}">
                      <a16:creationId xmlns:a16="http://schemas.microsoft.com/office/drawing/2014/main" id="{9DCA3B31-CE4D-482A-7CB4-8BBF8EB14423}"/>
                    </a:ext>
                  </a:extLst>
                </p:cNvPr>
                <p:cNvSpPr/>
                <p:nvPr/>
              </p:nvSpPr>
              <p:spPr>
                <a:xfrm>
                  <a:off x="8858662" y="3494943"/>
                  <a:ext cx="1211838" cy="574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9881" h="1146479">
                      <a:moveTo>
                        <a:pt x="0" y="0"/>
                      </a:moveTo>
                      <a:lnTo>
                        <a:pt x="2419881" y="0"/>
                      </a:lnTo>
                      <a:lnTo>
                        <a:pt x="2419881" y="1146479"/>
                      </a:lnTo>
                      <a:lnTo>
                        <a:pt x="0" y="11464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19"/>
                  <a:stretch>
                    <a:fillRect r="-4817"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5" name="Freeform 26">
                  <a:extLst>
                    <a:ext uri="{FF2B5EF4-FFF2-40B4-BE49-F238E27FC236}">
                      <a16:creationId xmlns:a16="http://schemas.microsoft.com/office/drawing/2014/main" id="{238D09C4-1914-43DB-CEA6-0D74F708050B}"/>
                    </a:ext>
                  </a:extLst>
                </p:cNvPr>
                <p:cNvSpPr/>
                <p:nvPr/>
              </p:nvSpPr>
              <p:spPr>
                <a:xfrm>
                  <a:off x="7269963" y="3406366"/>
                  <a:ext cx="1364782" cy="742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0315" h="1321679">
                      <a:moveTo>
                        <a:pt x="0" y="0"/>
                      </a:moveTo>
                      <a:lnTo>
                        <a:pt x="2430314" y="0"/>
                      </a:lnTo>
                      <a:lnTo>
                        <a:pt x="2430314" y="1321679"/>
                      </a:lnTo>
                      <a:lnTo>
                        <a:pt x="0" y="13216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20"/>
                  <a:stretch>
                    <a:fillRect b="-23120"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6" name="Freeform 27">
                  <a:extLst>
                    <a:ext uri="{FF2B5EF4-FFF2-40B4-BE49-F238E27FC236}">
                      <a16:creationId xmlns:a16="http://schemas.microsoft.com/office/drawing/2014/main" id="{2650CE77-1A06-61FB-D3F1-A86A893334E6}"/>
                    </a:ext>
                  </a:extLst>
                </p:cNvPr>
                <p:cNvSpPr/>
                <p:nvPr/>
              </p:nvSpPr>
              <p:spPr>
                <a:xfrm>
                  <a:off x="3870364" y="4372734"/>
                  <a:ext cx="949046" cy="646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696" h="1209860">
                      <a:moveTo>
                        <a:pt x="0" y="0"/>
                      </a:moveTo>
                      <a:lnTo>
                        <a:pt x="1776697" y="0"/>
                      </a:lnTo>
                      <a:lnTo>
                        <a:pt x="1776697" y="1209860"/>
                      </a:lnTo>
                      <a:lnTo>
                        <a:pt x="0" y="120986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21">
                    <a:extLst>
                      <a:ext uri="{96DAC541-7B7A-43D3-8B79-37D633B846F1}">
                        <asvg:svgBlip xmlns:asvg="http://schemas.microsoft.com/office/drawing/2016/SVG/main" r:embed="rId22"/>
                      </a:ext>
                    </a:extLst>
                  </a:blip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7" name="Freeform 28">
                  <a:extLst>
                    <a:ext uri="{FF2B5EF4-FFF2-40B4-BE49-F238E27FC236}">
                      <a16:creationId xmlns:a16="http://schemas.microsoft.com/office/drawing/2014/main" id="{029FDC90-F763-AEBA-6B01-007FED664779}"/>
                    </a:ext>
                  </a:extLst>
                </p:cNvPr>
                <p:cNvSpPr/>
                <p:nvPr/>
              </p:nvSpPr>
              <p:spPr>
                <a:xfrm>
                  <a:off x="7756306" y="5200668"/>
                  <a:ext cx="1563188" cy="377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2980" h="652444">
                      <a:moveTo>
                        <a:pt x="0" y="0"/>
                      </a:moveTo>
                      <a:lnTo>
                        <a:pt x="2702980" y="0"/>
                      </a:lnTo>
                      <a:lnTo>
                        <a:pt x="2702980" y="652444"/>
                      </a:lnTo>
                      <a:lnTo>
                        <a:pt x="0" y="6524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49" name="Freeform 30">
                  <a:extLst>
                    <a:ext uri="{FF2B5EF4-FFF2-40B4-BE49-F238E27FC236}">
                      <a16:creationId xmlns:a16="http://schemas.microsoft.com/office/drawing/2014/main" id="{6AD6E086-F3F1-C548-8624-24B56FE2626E}"/>
                    </a:ext>
                  </a:extLst>
                </p:cNvPr>
                <p:cNvSpPr/>
                <p:nvPr/>
              </p:nvSpPr>
              <p:spPr>
                <a:xfrm>
                  <a:off x="2750248" y="5268804"/>
                  <a:ext cx="1660924" cy="3104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8168" h="592124">
                      <a:moveTo>
                        <a:pt x="0" y="0"/>
                      </a:moveTo>
                      <a:lnTo>
                        <a:pt x="3168168" y="0"/>
                      </a:lnTo>
                      <a:lnTo>
                        <a:pt x="3168168" y="592124"/>
                      </a:lnTo>
                      <a:lnTo>
                        <a:pt x="0" y="5921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3407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902C-2355-8578-790A-B65DD8951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5AA924F-9253-372F-EE2C-65A9B3E00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051845E-299D-35E2-8180-F9F6986BCAF1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B70AF024-6BF4-0833-A121-3D26A81EF3AC}"/>
              </a:ext>
            </a:extLst>
          </p:cNvPr>
          <p:cNvSpPr/>
          <p:nvPr/>
        </p:nvSpPr>
        <p:spPr>
          <a:xfrm>
            <a:off x="490827" y="6100216"/>
            <a:ext cx="1204624" cy="523917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C2C46966-F6C5-29E2-60C6-B68FA5D7EA93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US" sz="4000" dirty="0">
                <a:solidFill>
                  <a:schemeClr val="bg1"/>
                </a:solidFill>
                <a:latin typeface="Helios Bold"/>
              </a:rPr>
              <a:t>Why not internal IT or generic integrators?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03FD69A9-16DE-61EA-61F8-0DDFC7CC4B45}"/>
              </a:ext>
            </a:extLst>
          </p:cNvPr>
          <p:cNvSpPr/>
          <p:nvPr/>
        </p:nvSpPr>
        <p:spPr>
          <a:xfrm>
            <a:off x="6411443" y="1455796"/>
            <a:ext cx="5053525" cy="7816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B174BC5-6916-627B-34F4-77E9C2CC0A4C}"/>
              </a:ext>
            </a:extLst>
          </p:cNvPr>
          <p:cNvSpPr/>
          <p:nvPr/>
        </p:nvSpPr>
        <p:spPr>
          <a:xfrm>
            <a:off x="1182891" y="1503550"/>
            <a:ext cx="4786365" cy="7816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A399BA-D6BE-8FE8-11DC-3746F28F8F6B}"/>
              </a:ext>
            </a:extLst>
          </p:cNvPr>
          <p:cNvSpPr txBox="1"/>
          <p:nvPr/>
        </p:nvSpPr>
        <p:spPr>
          <a:xfrm>
            <a:off x="1550727" y="1717009"/>
            <a:ext cx="345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pl-PL" dirty="0">
                <a:solidFill>
                  <a:schemeClr val="bg1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I</a:t>
            </a:r>
            <a:r>
              <a:rPr lang="en-US" dirty="0" err="1">
                <a:solidFill>
                  <a:srgbClr val="FFFFFF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nternal</a:t>
            </a:r>
            <a:r>
              <a:rPr lang="en-US" dirty="0">
                <a:solidFill>
                  <a:srgbClr val="FFFFFF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 IT or generic integrators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153E04-902B-B97F-02D5-7339482A49B2}"/>
              </a:ext>
            </a:extLst>
          </p:cNvPr>
          <p:cNvSpPr txBox="1"/>
          <p:nvPr/>
        </p:nvSpPr>
        <p:spPr>
          <a:xfrm>
            <a:off x="7615035" y="1678455"/>
            <a:ext cx="2535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>
              <a:defRPr/>
            </a:pPr>
            <a:r>
              <a:rPr lang="az-Latn-AZ" dirty="0">
                <a:solidFill>
                  <a:srgbClr val="FFFFFF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DataLead Consulting</a:t>
            </a:r>
            <a:endParaRPr lang="en-US" dirty="0">
              <a:solidFill>
                <a:srgbClr val="FFFFFF"/>
              </a:solidFill>
              <a:latin typeface="Helios" panose="020B0604020202020204" charset="0"/>
              <a:ea typeface="Lato Semibold" panose="020F0502020204030203" pitchFamily="34" charset="0"/>
              <a:cs typeface="Poppins SemiBold" pitchFamily="2" charset="77"/>
            </a:endParaRPr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1D0133C4-B698-FC6F-64C0-DBF2DD26A133}"/>
              </a:ext>
            </a:extLst>
          </p:cNvPr>
          <p:cNvGrpSpPr/>
          <p:nvPr/>
        </p:nvGrpSpPr>
        <p:grpSpPr>
          <a:xfrm>
            <a:off x="1310202" y="2381855"/>
            <a:ext cx="5249712" cy="3573623"/>
            <a:chOff x="1310201" y="2381855"/>
            <a:chExt cx="5379891" cy="357362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E8FF27-EC0C-1D9F-0287-D0118A3670A2}"/>
                </a:ext>
              </a:extLst>
            </p:cNvPr>
            <p:cNvSpPr txBox="1"/>
            <p:nvPr/>
          </p:nvSpPr>
          <p:spPr>
            <a:xfrm>
              <a:off x="1310201" y="2381855"/>
              <a:ext cx="4905054" cy="553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457200">
                <a:lnSpc>
                  <a:spcPts val="1930"/>
                </a:lnSpc>
                <a:defRPr/>
              </a:pPr>
              <a:r>
                <a:rPr lang="en-US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Broad focus, limited specialization</a:t>
              </a:r>
            </a:p>
            <a:p>
              <a:pPr lvl="0" defTabSz="457200">
                <a:lnSpc>
                  <a:spcPts val="1930"/>
                </a:lnSpc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Handle multiple IT domains — databases are not the core discipline.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3ADBB0-9DAF-9FD8-DA2D-75C5061CB9C5}"/>
                </a:ext>
              </a:extLst>
            </p:cNvPr>
            <p:cNvSpPr txBox="1"/>
            <p:nvPr/>
          </p:nvSpPr>
          <p:spPr>
            <a:xfrm>
              <a:off x="1318882" y="3076718"/>
              <a:ext cx="4757224" cy="553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lnSpc>
                  <a:spcPts val="1930"/>
                </a:lnSpc>
                <a:defRPr/>
              </a:pPr>
              <a:r>
                <a:rPr lang="en-US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Reactive operations</a:t>
              </a:r>
              <a:br>
                <a:rPr lang="ru-RU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</a:b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Incident response often starts after disruption impacts the business.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E26C8B-8B22-04A8-D427-8D8CD3ED9B34}"/>
                </a:ext>
              </a:extLst>
            </p:cNvPr>
            <p:cNvSpPr txBox="1"/>
            <p:nvPr/>
          </p:nvSpPr>
          <p:spPr>
            <a:xfrm>
              <a:off x="1318882" y="3771581"/>
              <a:ext cx="4765905" cy="79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indent="0" defTabSz="457200" fontAlgn="auto">
                <a:lnSpc>
                  <a:spcPts val="193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Vendor-driven decisions</a:t>
              </a:r>
            </a:p>
            <a:p>
              <a:pPr marR="0" lvl="0" indent="0" defTabSz="457200" fontAlgn="auto">
                <a:lnSpc>
                  <a:spcPts val="193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Architecture choices influenced by existing contracts or tool familiarity.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8569E9D-43AF-153C-43DE-6118682CB14F}"/>
                </a:ext>
              </a:extLst>
            </p:cNvPr>
            <p:cNvSpPr txBox="1"/>
            <p:nvPr/>
          </p:nvSpPr>
          <p:spPr>
            <a:xfrm>
              <a:off x="1310201" y="4710100"/>
              <a:ext cx="4765905" cy="553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indent="0" defTabSz="457200" fontAlgn="auto">
                <a:lnSpc>
                  <a:spcPts val="193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Limited exposure to large-scale incidents</a:t>
              </a:r>
              <a:br>
                <a:rPr lang="ru-RU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</a:b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Fewer real-world enterprise resilience scenarios.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DE128B-3076-28B5-D6EE-AB3C405D712F}"/>
                </a:ext>
              </a:extLst>
            </p:cNvPr>
            <p:cNvSpPr txBox="1"/>
            <p:nvPr/>
          </p:nvSpPr>
          <p:spPr>
            <a:xfrm>
              <a:off x="1318881" y="5401672"/>
              <a:ext cx="5371211" cy="553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indent="0" defTabSz="457200" fontAlgn="auto">
                <a:lnSpc>
                  <a:spcPts val="193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Governance added later</a:t>
              </a:r>
              <a:br>
                <a:rPr lang="ru-RU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</a:b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Compliance and reporting layered on top — not embedded by design.</a:t>
              </a: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05665C8-F3E0-7715-927B-67B760997547}"/>
              </a:ext>
            </a:extLst>
          </p:cNvPr>
          <p:cNvGrpSpPr/>
          <p:nvPr/>
        </p:nvGrpSpPr>
        <p:grpSpPr>
          <a:xfrm>
            <a:off x="6470191" y="2382177"/>
            <a:ext cx="5053525" cy="3817279"/>
            <a:chOff x="6470191" y="2496477"/>
            <a:chExt cx="5053525" cy="3817279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2055DF6-F7E8-BA55-0237-D144DA98472A}"/>
                </a:ext>
              </a:extLst>
            </p:cNvPr>
            <p:cNvSpPr txBox="1"/>
            <p:nvPr/>
          </p:nvSpPr>
          <p:spPr>
            <a:xfrm>
              <a:off x="6470191" y="2496477"/>
              <a:ext cx="4905054" cy="553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457200">
                <a:lnSpc>
                  <a:spcPts val="1930"/>
                </a:lnSpc>
                <a:defRPr/>
              </a:pPr>
              <a:r>
                <a:rPr lang="en-US" sz="14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Deep database specialization</a:t>
              </a:r>
              <a:br>
                <a:rPr lang="ru-RU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</a:b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Mission-critical data infrastructure is our core expertise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323DBB6-1DC7-E20C-BF9D-C46EE5C96006}"/>
                </a:ext>
              </a:extLst>
            </p:cNvPr>
            <p:cNvSpPr txBox="1"/>
            <p:nvPr/>
          </p:nvSpPr>
          <p:spPr>
            <a:xfrm>
              <a:off x="6478872" y="3191340"/>
              <a:ext cx="4757224" cy="553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57200">
                <a:lnSpc>
                  <a:spcPts val="1930"/>
                </a:lnSpc>
                <a:defRPr/>
              </a:pPr>
              <a:r>
                <a:rPr lang="en-US" sz="14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Proactive resilience model</a:t>
              </a:r>
              <a:br>
                <a:rPr lang="ru-RU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</a:b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Failure prevention and rapid containment built into operations.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974BC6F-6B25-5CBC-BB10-59AB1A19F800}"/>
                </a:ext>
              </a:extLst>
            </p:cNvPr>
            <p:cNvSpPr txBox="1"/>
            <p:nvPr/>
          </p:nvSpPr>
          <p:spPr>
            <a:xfrm>
              <a:off x="6478872" y="3886203"/>
              <a:ext cx="4765905" cy="553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indent="0" defTabSz="457200" fontAlgn="auto">
                <a:lnSpc>
                  <a:spcPts val="193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Vendor-neutral architecture</a:t>
              </a:r>
              <a:br>
                <a:rPr lang="ru-RU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</a:b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Solutions selected for business fit — not product preference.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43D911-B138-A623-F9A2-E55C3E882A6A}"/>
                </a:ext>
              </a:extLst>
            </p:cNvPr>
            <p:cNvSpPr txBox="1"/>
            <p:nvPr/>
          </p:nvSpPr>
          <p:spPr>
            <a:xfrm>
              <a:off x="6470191" y="4824722"/>
              <a:ext cx="5053525" cy="553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indent="0" defTabSz="457200" fontAlgn="auto">
                <a:lnSpc>
                  <a:spcPts val="193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Extensive enterprise-scale experience</a:t>
              </a:r>
              <a:br>
                <a:rPr lang="ru-RU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</a:b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Thousands of incidents managed across large, regulated environments.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358E7F8-459E-0447-C335-D32DA1C75A94}"/>
                </a:ext>
              </a:extLst>
            </p:cNvPr>
            <p:cNvSpPr txBox="1"/>
            <p:nvPr/>
          </p:nvSpPr>
          <p:spPr>
            <a:xfrm>
              <a:off x="6478872" y="5516294"/>
              <a:ext cx="4757224" cy="797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indent="0" defTabSz="457200" fontAlgn="auto">
                <a:lnSpc>
                  <a:spcPts val="193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rgbClr val="E9713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Governance embedded by design</a:t>
              </a:r>
              <a:br>
                <a:rPr lang="ru-RU" sz="1400" dirty="0">
                  <a:solidFill>
                    <a:srgbClr val="156082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</a:br>
              <a:r>
                <a:rPr lang="en-US" sz="1200" dirty="0">
                  <a:solidFill>
                    <a:srgbClr val="999999"/>
                  </a:solidFill>
                  <a:latin typeface="Helios" panose="020B0604020202020204" charset="0"/>
                  <a:ea typeface="Lato Light" panose="020F0502020204030203" pitchFamily="34" charset="0"/>
                  <a:cs typeface="Poppins Light" pitchFamily="2" charset="77"/>
                </a:rPr>
                <a:t>Compliance, visibility, and control integrated into daily operations.</a:t>
              </a:r>
            </a:p>
            <a:p>
              <a:pPr marR="0" lvl="0" indent="0" defTabSz="457200" fontAlgn="auto">
                <a:lnSpc>
                  <a:spcPts val="193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5875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8C953-2B71-9949-2F9B-51385C75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CFD28D6-6002-9C41-8451-3E59976891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9D92DE6-E2F5-80CC-C44A-0283E58078FB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99A5D728-6B5B-5C1E-CB13-5826C3DBBDB9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az-Latn-AZ" sz="4000" dirty="0">
                <a:solidFill>
                  <a:schemeClr val="bg1"/>
                </a:solidFill>
                <a:latin typeface="Helios Bold"/>
              </a:rPr>
              <a:t>Why DataLead Consulting</a:t>
            </a:r>
            <a:endParaRPr lang="en-US" sz="4000" dirty="0">
              <a:solidFill>
                <a:schemeClr val="bg1"/>
              </a:solidFill>
              <a:latin typeface="Helios Bol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28801B-CA5F-7729-60FE-20B59FE2D85A}"/>
              </a:ext>
            </a:extLst>
          </p:cNvPr>
          <p:cNvSpPr txBox="1"/>
          <p:nvPr/>
        </p:nvSpPr>
        <p:spPr>
          <a:xfrm>
            <a:off x="1673554" y="1600130"/>
            <a:ext cx="8384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pc="68" dirty="0">
                <a:solidFill>
                  <a:srgbClr val="E97132"/>
                </a:solidFill>
                <a:latin typeface="Helios" panose="020B0604020202020204" charset="0"/>
              </a:rPr>
              <a:t>Enterprise resilience requires experience, scale, and disciplined execution</a:t>
            </a:r>
            <a:endParaRPr lang="en-US" spc="68" dirty="0">
              <a:solidFill>
                <a:srgbClr val="E97132"/>
              </a:solidFill>
              <a:latin typeface="Helios" panose="020B0604020202020204" charset="0"/>
            </a:endParaRP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71E119C2-5638-4EC1-28DC-02143BACB825}"/>
              </a:ext>
            </a:extLst>
          </p:cNvPr>
          <p:cNvSpPr/>
          <p:nvPr/>
        </p:nvSpPr>
        <p:spPr>
          <a:xfrm rot="16200000">
            <a:off x="2393197" y="1155650"/>
            <a:ext cx="676196" cy="3048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6" name="Group 8">
            <a:extLst>
              <a:ext uri="{FF2B5EF4-FFF2-40B4-BE49-F238E27FC236}">
                <a16:creationId xmlns:a16="http://schemas.microsoft.com/office/drawing/2014/main" id="{E7AB5A3C-D372-E7BA-A55D-2867AC2E9794}"/>
              </a:ext>
            </a:extLst>
          </p:cNvPr>
          <p:cNvGrpSpPr/>
          <p:nvPr/>
        </p:nvGrpSpPr>
        <p:grpSpPr>
          <a:xfrm>
            <a:off x="4572000" y="3138504"/>
            <a:ext cx="3048000" cy="290496"/>
            <a:chOff x="4572000" y="3094929"/>
            <a:chExt cx="3048000" cy="290496"/>
          </a:xfrm>
        </p:grpSpPr>
        <p:cxnSp>
          <p:nvCxnSpPr>
            <p:cNvPr id="27" name="Straight Arrow Connector 7">
              <a:extLst>
                <a:ext uri="{FF2B5EF4-FFF2-40B4-BE49-F238E27FC236}">
                  <a16:creationId xmlns:a16="http://schemas.microsoft.com/office/drawing/2014/main" id="{030F5F10-64E4-FB6A-142A-CEDE288DAF02}"/>
                </a:ext>
              </a:extLst>
            </p:cNvPr>
            <p:cNvCxnSpPr/>
            <p:nvPr/>
          </p:nvCxnSpPr>
          <p:spPr>
            <a:xfrm flipV="1">
              <a:off x="7239000" y="3094929"/>
              <a:ext cx="381000" cy="290496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52">
              <a:extLst>
                <a:ext uri="{FF2B5EF4-FFF2-40B4-BE49-F238E27FC236}">
                  <a16:creationId xmlns:a16="http://schemas.microsoft.com/office/drawing/2014/main" id="{91450C14-4993-B5F4-15D0-85DC03B0E2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2000" y="3094929"/>
              <a:ext cx="381000" cy="290496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53">
            <a:extLst>
              <a:ext uri="{FF2B5EF4-FFF2-40B4-BE49-F238E27FC236}">
                <a16:creationId xmlns:a16="http://schemas.microsoft.com/office/drawing/2014/main" id="{9A0CA838-5F60-8AE7-2618-31BB81137354}"/>
              </a:ext>
            </a:extLst>
          </p:cNvPr>
          <p:cNvGrpSpPr/>
          <p:nvPr/>
        </p:nvGrpSpPr>
        <p:grpSpPr>
          <a:xfrm flipV="1">
            <a:off x="4572000" y="5010156"/>
            <a:ext cx="3048000" cy="290496"/>
            <a:chOff x="4572000" y="3094929"/>
            <a:chExt cx="3048000" cy="290496"/>
          </a:xfrm>
        </p:grpSpPr>
        <p:cxnSp>
          <p:nvCxnSpPr>
            <p:cNvPr id="30" name="Straight Arrow Connector 54">
              <a:extLst>
                <a:ext uri="{FF2B5EF4-FFF2-40B4-BE49-F238E27FC236}">
                  <a16:creationId xmlns:a16="http://schemas.microsoft.com/office/drawing/2014/main" id="{67A1424B-83A8-5DB2-267B-E423B2218E98}"/>
                </a:ext>
              </a:extLst>
            </p:cNvPr>
            <p:cNvCxnSpPr/>
            <p:nvPr/>
          </p:nvCxnSpPr>
          <p:spPr>
            <a:xfrm flipV="1">
              <a:off x="7239000" y="3094929"/>
              <a:ext cx="381000" cy="290496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55">
              <a:extLst>
                <a:ext uri="{FF2B5EF4-FFF2-40B4-BE49-F238E27FC236}">
                  <a16:creationId xmlns:a16="http://schemas.microsoft.com/office/drawing/2014/main" id="{EA3B3A27-7ED0-5E5E-6B50-1A4EBD4C0D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72000" y="3094929"/>
              <a:ext cx="381000" cy="290496"/>
            </a:xfrm>
            <a:prstGeom prst="straightConnector1">
              <a:avLst/>
            </a:prstGeom>
            <a:ln w="444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C3A4E377-10B6-BB87-C491-326E62B03319}"/>
              </a:ext>
            </a:extLst>
          </p:cNvPr>
          <p:cNvSpPr txBox="1">
            <a:spLocks/>
          </p:cNvSpPr>
          <p:nvPr/>
        </p:nvSpPr>
        <p:spPr>
          <a:xfrm>
            <a:off x="1355397" y="2521139"/>
            <a:ext cx="2751794" cy="4103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Senior engineering team</a:t>
            </a:r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EBAA64B8-C3BB-DB9E-CEA3-6788BB21FCC5}"/>
              </a:ext>
            </a:extLst>
          </p:cNvPr>
          <p:cNvSpPr/>
          <p:nvPr/>
        </p:nvSpPr>
        <p:spPr>
          <a:xfrm>
            <a:off x="4867436" y="3606621"/>
            <a:ext cx="2371564" cy="1031444"/>
          </a:xfrm>
          <a:custGeom>
            <a:avLst/>
            <a:gdLst/>
            <a:ahLst/>
            <a:cxnLst/>
            <a:rect l="l" t="t" r="r" b="b"/>
            <a:pathLst>
              <a:path w="7981274" h="3591573">
                <a:moveTo>
                  <a:pt x="0" y="0"/>
                </a:moveTo>
                <a:lnTo>
                  <a:pt x="7981274" y="0"/>
                </a:lnTo>
                <a:lnTo>
                  <a:pt x="7981274" y="3591573"/>
                </a:lnTo>
                <a:lnTo>
                  <a:pt x="0" y="3591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1" name="Rectangle 20">
            <a:extLst>
              <a:ext uri="{FF2B5EF4-FFF2-40B4-BE49-F238E27FC236}">
                <a16:creationId xmlns:a16="http://schemas.microsoft.com/office/drawing/2014/main" id="{8752827F-17D9-8B1B-D8C1-01A431D4F7D4}"/>
              </a:ext>
            </a:extLst>
          </p:cNvPr>
          <p:cNvSpPr/>
          <p:nvPr/>
        </p:nvSpPr>
        <p:spPr>
          <a:xfrm rot="16200000">
            <a:off x="2393197" y="3773891"/>
            <a:ext cx="676196" cy="3048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Placeholder 23">
            <a:extLst>
              <a:ext uri="{FF2B5EF4-FFF2-40B4-BE49-F238E27FC236}">
                <a16:creationId xmlns:a16="http://schemas.microsoft.com/office/drawing/2014/main" id="{EBCD4F51-1F4B-FF25-5047-E71B0CE555B6}"/>
              </a:ext>
            </a:extLst>
          </p:cNvPr>
          <p:cNvSpPr txBox="1">
            <a:spLocks/>
          </p:cNvSpPr>
          <p:nvPr/>
        </p:nvSpPr>
        <p:spPr>
          <a:xfrm>
            <a:off x="1355397" y="5063910"/>
            <a:ext cx="2751794" cy="4103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z-Latn-AZ" sz="1600" dirty="0">
                <a:solidFill>
                  <a:srgbClr val="FFFFFF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Business-aligned architecture</a:t>
            </a:r>
            <a:endParaRPr lang="en-US" sz="1600" dirty="0">
              <a:solidFill>
                <a:srgbClr val="FFFFFF"/>
              </a:solidFill>
              <a:latin typeface="Helios" panose="020B0604020202020204" charset="0"/>
              <a:ea typeface="Lato Semibold" panose="020F0502020204030203" pitchFamily="34" charset="0"/>
              <a:cs typeface="Poppins SemiBold" pitchFamily="2" charset="77"/>
            </a:endParaRPr>
          </a:p>
        </p:txBody>
      </p:sp>
      <p:sp>
        <p:nvSpPr>
          <p:cNvPr id="43" name="Rectangle 20">
            <a:extLst>
              <a:ext uri="{FF2B5EF4-FFF2-40B4-BE49-F238E27FC236}">
                <a16:creationId xmlns:a16="http://schemas.microsoft.com/office/drawing/2014/main" id="{C1A5DCFA-D3F9-4312-E248-397646BDE885}"/>
              </a:ext>
            </a:extLst>
          </p:cNvPr>
          <p:cNvSpPr/>
          <p:nvPr/>
        </p:nvSpPr>
        <p:spPr>
          <a:xfrm rot="16200000">
            <a:off x="9060228" y="1135100"/>
            <a:ext cx="676196" cy="3048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Placeholder 23">
            <a:extLst>
              <a:ext uri="{FF2B5EF4-FFF2-40B4-BE49-F238E27FC236}">
                <a16:creationId xmlns:a16="http://schemas.microsoft.com/office/drawing/2014/main" id="{3C7087E1-5DCB-0E70-AA6F-9781A88CF912}"/>
              </a:ext>
            </a:extLst>
          </p:cNvPr>
          <p:cNvSpPr txBox="1">
            <a:spLocks/>
          </p:cNvSpPr>
          <p:nvPr/>
        </p:nvSpPr>
        <p:spPr>
          <a:xfrm>
            <a:off x="8022428" y="2506573"/>
            <a:ext cx="2751794" cy="4103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az-Latn-AZ" sz="1600" dirty="0">
                <a:solidFill>
                  <a:srgbClr val="FFFFFF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Proven operational scale</a:t>
            </a:r>
            <a:endParaRPr lang="en-US" sz="1600" dirty="0">
              <a:solidFill>
                <a:srgbClr val="FFFFFF"/>
              </a:solidFill>
              <a:latin typeface="Helios" panose="020B0604020202020204" charset="0"/>
              <a:ea typeface="Lato Semibold" panose="020F0502020204030203" pitchFamily="34" charset="0"/>
              <a:cs typeface="Poppins SemiBold" pitchFamily="2" charset="77"/>
            </a:endParaRPr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61AE9BAD-C518-17D6-AD5E-883160D415BD}"/>
              </a:ext>
            </a:extLst>
          </p:cNvPr>
          <p:cNvSpPr/>
          <p:nvPr/>
        </p:nvSpPr>
        <p:spPr>
          <a:xfrm rot="16200000">
            <a:off x="9060228" y="3754181"/>
            <a:ext cx="676196" cy="30480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Placeholder 23">
            <a:extLst>
              <a:ext uri="{FF2B5EF4-FFF2-40B4-BE49-F238E27FC236}">
                <a16:creationId xmlns:a16="http://schemas.microsoft.com/office/drawing/2014/main" id="{2918B549-2FA6-B4E2-0367-91075A1F3D95}"/>
              </a:ext>
            </a:extLst>
          </p:cNvPr>
          <p:cNvSpPr txBox="1">
            <a:spLocks/>
          </p:cNvSpPr>
          <p:nvPr/>
        </p:nvSpPr>
        <p:spPr>
          <a:xfrm>
            <a:off x="8022428" y="5044200"/>
            <a:ext cx="2751794" cy="41036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Helios" panose="020B0604020202020204" charset="0"/>
                <a:ea typeface="Lato Semibold" panose="020F0502020204030203" pitchFamily="34" charset="0"/>
                <a:cs typeface="Poppins SemiBold" pitchFamily="2" charset="77"/>
              </a:rPr>
              <a:t>25 years of enterprise expertise</a:t>
            </a:r>
          </a:p>
        </p:txBody>
      </p:sp>
      <p:sp>
        <p:nvSpPr>
          <p:cNvPr id="47" name="TextBox 42">
            <a:extLst>
              <a:ext uri="{FF2B5EF4-FFF2-40B4-BE49-F238E27FC236}">
                <a16:creationId xmlns:a16="http://schemas.microsoft.com/office/drawing/2014/main" id="{26B4F4C0-4DA2-2381-37AA-7E69E94E2801}"/>
              </a:ext>
            </a:extLst>
          </p:cNvPr>
          <p:cNvSpPr txBox="1"/>
          <p:nvPr/>
        </p:nvSpPr>
        <p:spPr>
          <a:xfrm>
            <a:off x="1121729" y="3077932"/>
            <a:ext cx="3669346" cy="144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defTabSz="457200">
              <a:lnSpc>
                <a:spcPct val="150000"/>
              </a:lnSpc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Certified database and infrastructure experts</a:t>
            </a:r>
          </a:p>
          <a:p>
            <a:pPr marL="171450" lvl="0" indent="-171450" defTabSz="457200">
              <a:lnSpc>
                <a:spcPct val="150000"/>
              </a:lnSpc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Deep hands-on experience across enterprise-scale platforms</a:t>
            </a:r>
          </a:p>
          <a:p>
            <a:pPr marL="171450" lvl="0" indent="-171450" defTabSz="457200">
              <a:lnSpc>
                <a:spcPct val="150000"/>
              </a:lnSpc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Average experience per engineer: </a:t>
            </a:r>
            <a:r>
              <a:rPr lang="en-US" sz="1200" dirty="0">
                <a:solidFill>
                  <a:srgbClr val="999999"/>
                </a:solidFill>
                <a:highlight>
                  <a:srgbClr val="FFFF00"/>
                </a:highlight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[ADD YEARS]</a:t>
            </a:r>
          </a:p>
          <a:p>
            <a:pPr marL="171450" lvl="0" indent="-171450" defTabSz="457200">
              <a:lnSpc>
                <a:spcPct val="150000"/>
              </a:lnSpc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Total certifications: </a:t>
            </a:r>
            <a:r>
              <a:rPr lang="en-US" sz="1200" dirty="0">
                <a:solidFill>
                  <a:srgbClr val="999999"/>
                </a:solidFill>
                <a:highlight>
                  <a:srgbClr val="FFFF00"/>
                </a:highlight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[ADD NUMBER]</a:t>
            </a:r>
          </a:p>
        </p:txBody>
      </p:sp>
      <p:sp>
        <p:nvSpPr>
          <p:cNvPr id="48" name="TextBox 42">
            <a:extLst>
              <a:ext uri="{FF2B5EF4-FFF2-40B4-BE49-F238E27FC236}">
                <a16:creationId xmlns:a16="http://schemas.microsoft.com/office/drawing/2014/main" id="{29D11DAF-8B58-AEFF-E964-0C64771840EB}"/>
              </a:ext>
            </a:extLst>
          </p:cNvPr>
          <p:cNvSpPr txBox="1"/>
          <p:nvPr/>
        </p:nvSpPr>
        <p:spPr>
          <a:xfrm>
            <a:off x="1207293" y="5708722"/>
            <a:ext cx="3364707" cy="612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Vendor-neutral decisions optimized for performance, compliance, and cost efficiency.</a:t>
            </a:r>
            <a:endParaRPr lang="en-US" sz="1200" dirty="0">
              <a:solidFill>
                <a:srgbClr val="999999"/>
              </a:solidFill>
              <a:highlight>
                <a:srgbClr val="FFFF00"/>
              </a:highlight>
              <a:latin typeface="Helios" panose="020B0604020202020204" charset="0"/>
              <a:ea typeface="Lato Light" panose="020F0502020204030203" pitchFamily="34" charset="0"/>
              <a:cs typeface="Poppins Light" pitchFamily="2" charset="77"/>
            </a:endParaRPr>
          </a:p>
        </p:txBody>
      </p:sp>
      <p:sp>
        <p:nvSpPr>
          <p:cNvPr id="49" name="TextBox 42">
            <a:extLst>
              <a:ext uri="{FF2B5EF4-FFF2-40B4-BE49-F238E27FC236}">
                <a16:creationId xmlns:a16="http://schemas.microsoft.com/office/drawing/2014/main" id="{54A2B5B6-3709-1F22-0DDA-0FBF1E004C94}"/>
              </a:ext>
            </a:extLst>
          </p:cNvPr>
          <p:cNvSpPr txBox="1"/>
          <p:nvPr/>
        </p:nvSpPr>
        <p:spPr>
          <a:xfrm>
            <a:off x="7874324" y="3077932"/>
            <a:ext cx="3048004" cy="144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defTabSz="457200">
              <a:lnSpc>
                <a:spcPct val="150000"/>
              </a:lnSpc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Rapid incident response culture</a:t>
            </a:r>
          </a:p>
          <a:p>
            <a:pPr marL="171450" lvl="0" indent="-171450" defTabSz="457200">
              <a:lnSpc>
                <a:spcPct val="150000"/>
              </a:lnSpc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Enterprise-grade uptime performance</a:t>
            </a:r>
          </a:p>
          <a:p>
            <a:pPr marL="171450" lvl="0" indent="-171450" defTabSz="457200">
              <a:lnSpc>
                <a:spcPct val="150000"/>
              </a:lnSpc>
              <a:buClr>
                <a:srgbClr val="E97132"/>
              </a:buClr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Large-scale database and petabyte-level data environments under management</a:t>
            </a:r>
            <a:endParaRPr lang="en-US" sz="1200" dirty="0">
              <a:solidFill>
                <a:srgbClr val="999999"/>
              </a:solidFill>
              <a:highlight>
                <a:srgbClr val="FFFF00"/>
              </a:highlight>
              <a:latin typeface="Helios" panose="020B0604020202020204" charset="0"/>
              <a:ea typeface="Lato Light" panose="020F0502020204030203" pitchFamily="34" charset="0"/>
              <a:cs typeface="Poppins Light" pitchFamily="2" charset="77"/>
            </a:endParaRPr>
          </a:p>
        </p:txBody>
      </p:sp>
      <p:sp>
        <p:nvSpPr>
          <p:cNvPr id="51" name="TextBox 42">
            <a:extLst>
              <a:ext uri="{FF2B5EF4-FFF2-40B4-BE49-F238E27FC236}">
                <a16:creationId xmlns:a16="http://schemas.microsoft.com/office/drawing/2014/main" id="{2701A0C2-CE1C-786A-C36A-3CBBABF15239}"/>
              </a:ext>
            </a:extLst>
          </p:cNvPr>
          <p:cNvSpPr txBox="1"/>
          <p:nvPr/>
        </p:nvSpPr>
        <p:spPr>
          <a:xfrm>
            <a:off x="7874324" y="5729205"/>
            <a:ext cx="3364707" cy="612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lnSpc>
                <a:spcPct val="150000"/>
              </a:lnSpc>
              <a:buClr>
                <a:srgbClr val="E97132"/>
              </a:buClr>
              <a:defRPr/>
            </a:pPr>
            <a:r>
              <a:rPr lang="en-US" sz="1200" dirty="0">
                <a:solidFill>
                  <a:srgbClr val="999999"/>
                </a:solidFill>
                <a:latin typeface="Helios" panose="020B0604020202020204" charset="0"/>
                <a:ea typeface="Lato Light" panose="020F0502020204030203" pitchFamily="34" charset="0"/>
                <a:cs typeface="Poppins Light" pitchFamily="2" charset="77"/>
              </a:rPr>
              <a:t>Long-standing experience in mission-critical and regulated environments.</a:t>
            </a:r>
            <a:endParaRPr lang="en-US" sz="1200" dirty="0">
              <a:solidFill>
                <a:srgbClr val="999999"/>
              </a:solidFill>
              <a:highlight>
                <a:srgbClr val="FFFF00"/>
              </a:highlight>
              <a:latin typeface="Helios" panose="020B0604020202020204" charset="0"/>
              <a:ea typeface="Lato Light" panose="020F0502020204030203" pitchFamily="34" charset="0"/>
              <a:cs typeface="Poppi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74881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82EC-6587-D919-59BF-889D5C50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6735C6-1D1D-D7F4-9444-9687AD4B4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66" b="56025"/>
          <a:stretch>
            <a:fillRect/>
          </a:stretch>
        </p:blipFill>
        <p:spPr>
          <a:xfrm>
            <a:off x="0" y="0"/>
            <a:ext cx="12192000" cy="1333501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75E5BE-7388-4A3F-05DC-810D22A5BAC3}"/>
              </a:ext>
            </a:extLst>
          </p:cNvPr>
          <p:cNvSpPr/>
          <p:nvPr/>
        </p:nvSpPr>
        <p:spPr>
          <a:xfrm>
            <a:off x="0" y="0"/>
            <a:ext cx="12192000" cy="1333501"/>
          </a:xfrm>
          <a:prstGeom prst="rect">
            <a:avLst/>
          </a:prstGeom>
          <a:solidFill>
            <a:schemeClr val="tx1">
              <a:alpha val="6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CuadroTexto 350">
            <a:extLst>
              <a:ext uri="{FF2B5EF4-FFF2-40B4-BE49-F238E27FC236}">
                <a16:creationId xmlns:a16="http://schemas.microsoft.com/office/drawing/2014/main" id="{A18A44DD-D518-1337-2749-5D32B0817EFE}"/>
              </a:ext>
            </a:extLst>
          </p:cNvPr>
          <p:cNvSpPr txBox="1"/>
          <p:nvPr/>
        </p:nvSpPr>
        <p:spPr>
          <a:xfrm>
            <a:off x="624175" y="625615"/>
            <a:ext cx="11215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az-Latn-AZ" sz="4000" dirty="0">
                <a:solidFill>
                  <a:schemeClr val="bg1"/>
                </a:solidFill>
                <a:latin typeface="Helios Bold"/>
              </a:rPr>
              <a:t>Let’s discuss collaboration</a:t>
            </a:r>
            <a:endParaRPr lang="en-US" sz="4000" dirty="0">
              <a:solidFill>
                <a:schemeClr val="bg1"/>
              </a:solidFill>
              <a:latin typeface="Helios Bol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4EF488-7E73-FA23-1306-A457ED02C859}"/>
              </a:ext>
            </a:extLst>
          </p:cNvPr>
          <p:cNvSpPr txBox="1"/>
          <p:nvPr/>
        </p:nvSpPr>
        <p:spPr>
          <a:xfrm>
            <a:off x="1559254" y="3429000"/>
            <a:ext cx="83848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spc="68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Helios" panose="020B0604020202020204" charset="0"/>
              </a:rPr>
              <a:t>CALL TO ACTION (</a:t>
            </a:r>
            <a:r>
              <a:rPr lang="ru-RU" sz="3200" spc="68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Helios" panose="020B0604020202020204" charset="0"/>
              </a:rPr>
              <a:t>ОБСУДИТЬ СОВМЕСТНО!)</a:t>
            </a:r>
            <a:endParaRPr lang="en-US" sz="3200" spc="68" dirty="0">
              <a:solidFill>
                <a:schemeClr val="accent6">
                  <a:lumMod val="50000"/>
                </a:schemeClr>
              </a:solidFill>
              <a:highlight>
                <a:srgbClr val="FFFF00"/>
              </a:highlight>
              <a:latin typeface="Helio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8478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1507</Words>
  <Application>Microsoft Office PowerPoint</Application>
  <PresentationFormat>Широкоэкранный</PresentationFormat>
  <Paragraphs>302</Paragraphs>
  <Slides>18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Century Gothic</vt:lpstr>
      <vt:lpstr>Helios</vt:lpstr>
      <vt:lpstr>Helios Bold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Вервенко Анастасия Михайловна</dc:creator>
  <cp:lastModifiedBy>Вервенко Анастасия Михайловна</cp:lastModifiedBy>
  <cp:revision>41</cp:revision>
  <dcterms:created xsi:type="dcterms:W3CDTF">2026-03-03T13:39:01Z</dcterms:created>
  <dcterms:modified xsi:type="dcterms:W3CDTF">2026-03-04T13:43:34Z</dcterms:modified>
</cp:coreProperties>
</file>